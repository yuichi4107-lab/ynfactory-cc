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7"/>
          </a:solidFill>
          <a:ln w="12700">
            <a:solidFill>
              <a:srgbClr val="FAFB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-411480"/>
            <a:ext cx="2743200" cy="7955280"/>
          </a:xfrm>
          <a:prstGeom prst="arc">
            <a:avLst/>
          </a:prstGeom>
          <a:noFill/>
          <a:ln w="27940">
            <a:solidFill>
              <a:srgbClr val="F5C84C">
                <a:alpha val="85000"/>
              </a:srgbClr>
            </a:solidFill>
            <a:prstDash val="solid"/>
          </a:ln>
        </p:spPr>
      </p:sp>
      <p:pic>
        <p:nvPicPr>
          <p:cNvPr id="5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182880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15361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A65"/>
                </a:solidFill>
              </a:rPr>
              <a:t>会社説明資料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4313C"/>
                </a:solidFill>
              </a:rPr>
              <a:t>企業の未来を支える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4313C"/>
                </a:solidFill>
              </a:rPr>
              <a:t>人材の総合コーディネーター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76656" y="370332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17D"/>
                </a:solidFill>
              </a:rPr>
              <a:t>東海エリアを中心に、人材派遣・紹介予定派遣・人材紹介・アウトソーシングで企業の合理化と成長を支援。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65008" y="1024128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E3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5320" y="11612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84C"/>
                </a:solidFill>
              </a:rPr>
              <a:t>30年以上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91472" y="12435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83047"/>
                </a:solidFill>
              </a:rPr>
              <a:t>経験・ノウハウ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065008" y="2331720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E3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84C"/>
                </a:solidFill>
              </a:rPr>
              <a:t>20,000人超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491472" y="25511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83047"/>
                </a:solidFill>
              </a:rPr>
              <a:t>登録者基盤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065008" y="3639312"/>
            <a:ext cx="2971800" cy="841248"/>
          </a:xfrm>
          <a:prstGeom prst="roundRect">
            <a:avLst>
              <a:gd name="adj" fmla="val 652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8E3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37764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84C"/>
                </a:solidFill>
              </a:rPr>
              <a:t>4つ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491472" y="38587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83047"/>
                </a:solidFill>
              </a:rPr>
              <a:t>就業形態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Sources: company / looking-for-human-resource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CORE MESSAGE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理念は、人を起点に企業の明日を設計すること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単なる人員補充ではなく、企業ニーズに合わせた人材投入・提案・アウトソーシングまで支援する。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" y="2057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8A65"/>
                </a:solidFill>
              </a:rPr>
              <a:t>“企業の未来を支えるのは人”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715000" y="1828800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1828800"/>
            <a:ext cx="73152" cy="713232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7510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人材投入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06640" y="19842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必要な時に、必要な人材を適材適所へ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15000" y="2788920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EAF6F0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0" y="2788920"/>
            <a:ext cx="73152" cy="713232"/>
          </a:xfrm>
          <a:prstGeom prst="rect">
            <a:avLst/>
          </a:prstGeom>
          <a:solidFill>
            <a:srgbClr val="34699A"/>
          </a:solidFill>
          <a:ln w="12700">
            <a:solidFill>
              <a:srgbClr val="3469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93522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柔軟な提案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06640" y="294436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短時間・短期間・短日数などの要望に対応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15000" y="3749040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15000" y="3749040"/>
            <a:ext cx="73152" cy="713232"/>
          </a:xfrm>
          <a:prstGeom prst="rect">
            <a:avLst/>
          </a:prstGeom>
          <a:solidFill>
            <a:srgbClr val="EE7D5A"/>
          </a:solidFill>
          <a:ln w="12700">
            <a:solidFill>
              <a:srgbClr val="EE7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9320" y="389534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経営合理化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06640" y="3904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業務委託・コンサルティングで効率化を支援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103120" y="4389120"/>
            <a:ext cx="7406640" cy="502920"/>
          </a:xfrm>
          <a:prstGeom prst="chevron">
            <a:avLst/>
          </a:prstGeom>
          <a:solidFill>
            <a:srgbClr val="183047"/>
          </a:solidFill>
          <a:ln w="12700">
            <a:solidFill>
              <a:srgbClr val="1830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73552" y="455371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企業とスタッフ双方の成長に貢献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Source: company page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AT A GLANCE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数字で見る日美株式会社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公開会社概要と企業向けページに基づく基本情報。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58368" y="1847088"/>
            <a:ext cx="3182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" y="200253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A65"/>
                </a:solidFill>
              </a:rPr>
              <a:t>1984年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95528" y="247802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会社設立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昭和59年5月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361688" y="1847088"/>
            <a:ext cx="3182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98848" y="200253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699A"/>
                </a:solidFill>
              </a:rPr>
              <a:t>5,000万円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498848" y="247802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資本金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065008" y="1847088"/>
            <a:ext cx="3182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02168" y="200253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7D5A"/>
                </a:solidFill>
              </a:rPr>
              <a:t>派23-020031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202168" y="247802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人材派遣業許可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" y="3291840"/>
            <a:ext cx="3182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95528" y="344728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A65"/>
                </a:solidFill>
              </a:rPr>
              <a:t>23-ユ-020188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95528" y="392277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有料職業紹介事業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361688" y="3291840"/>
            <a:ext cx="3182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498848" y="344728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699A"/>
                </a:solidFill>
              </a:rPr>
              <a:t>250名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4498848" y="392277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派遣業務員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2021年5月現在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065008" y="3291840"/>
            <a:ext cx="31821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02168" y="344728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7D5A"/>
                </a:solidFill>
              </a:rPr>
              <a:t>20,000人超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02168" y="392277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登録者基盤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13C"/>
                </a:solidFill>
              </a:rPr>
              <a:t>企業向けページ記載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58368" y="5138928"/>
            <a:ext cx="10789920" cy="530352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5321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13C"/>
                </a:solidFill>
              </a:rPr>
              <a:t>本社: 名古屋市中区錦一丁目5番13号 オリックス名古屋錦ビル9階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Sources: company overview / employer page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WHY NICHIBI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選ばれる理由は、地域密着と人材理解の掛け合わせ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企業の採用・配置・定着に効く7つの強み。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2487168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" y="198424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58952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安定のマッチング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8952" y="2478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17D"/>
                </a:solidFill>
              </a:rPr>
              <a:t>専任スタッフが適性を把握</a:t>
            </a:r>
            <a:endParaRPr lang="en-US" sz="760" dirty="0"/>
          </a:p>
        </p:txBody>
      </p:sp>
      <p:sp>
        <p:nvSpPr>
          <p:cNvPr id="11" name="Shape 8"/>
          <p:cNvSpPr/>
          <p:nvPr/>
        </p:nvSpPr>
        <p:spPr>
          <a:xfrm>
            <a:off x="3447288" y="1828800"/>
            <a:ext cx="2487168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11880" y="198424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11880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給与設計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11880" y="2478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17D"/>
                </a:solidFill>
              </a:rPr>
              <a:t>応募率と定着率を意識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6300216" y="1828800"/>
            <a:ext cx="2487168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64808" y="198424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464808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地域密着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64808" y="2478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17D"/>
                </a:solidFill>
              </a:rPr>
              <a:t>愛知・岐阜・三重中心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9153144" y="1828800"/>
            <a:ext cx="2487168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317736" y="198424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04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317736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リピート率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17736" y="2478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17D"/>
                </a:solidFill>
              </a:rPr>
              <a:t>技術と人柄を重視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594360" y="3246120"/>
            <a:ext cx="2487168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58952" y="340156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05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58952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柔軟な活用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58952" y="38953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17D"/>
                </a:solidFill>
              </a:rPr>
              <a:t>短時間・短期にも対応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3447288" y="3246120"/>
            <a:ext cx="2487168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611880" y="340156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06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61188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専門性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611880" y="38953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4717D"/>
                </a:solidFill>
              </a:rPr>
              <a:t>医療・教育・多言語も対応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6300216" y="3246120"/>
            <a:ext cx="2487168" cy="978408"/>
          </a:xfrm>
          <a:prstGeom prst="roundRect">
            <a:avLst>
              <a:gd name="adj" fmla="val 5607"/>
            </a:avLst>
          </a:prstGeom>
          <a:solidFill>
            <a:srgbClr val="183047"/>
          </a:solidFill>
          <a:ln w="12700">
            <a:solidFill>
              <a:srgbClr val="183047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64808" y="340156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C"/>
                </a:solidFill>
              </a:rPr>
              <a:t>07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64808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4つの就業形態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64808" y="38953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CFE7DC"/>
                </a:solidFill>
              </a:rPr>
              <a:t>人材計画を広く支援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685800" y="505663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A65"/>
                </a:solidFill>
              </a:rPr>
              <a:t>採用だけでなく、配置後に活躍し続けることまで見据える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Source: employer page, 7 reasons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SERVICE PORTFOLIO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課題に合わせて選べる4つの就業形態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人材派遣、紹介予定派遣、人材紹介、アウトソーシングを組み合わせて人事計画を支援。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847088"/>
            <a:ext cx="48006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008A65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0392" y="2048256"/>
            <a:ext cx="530352" cy="530352"/>
          </a:xfrm>
          <a:prstGeom prst="roundRect">
            <a:avLst>
              <a:gd name="adj" fmla="val 8621"/>
            </a:avLst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23113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81912" y="2075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人材派遣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81912" y="237744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17D"/>
                </a:solidFill>
              </a:rPr>
              <a:t>必要な時、必要な人材を適材適所へ。リーズナブルかつタイムリーに提供。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6126480" y="1847088"/>
            <a:ext cx="48006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34699A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91072" y="2048256"/>
            <a:ext cx="530352" cy="530352"/>
          </a:xfrm>
          <a:prstGeom prst="roundRect">
            <a:avLst>
              <a:gd name="adj" fmla="val 8621"/>
            </a:avLst>
          </a:prstGeom>
          <a:solidFill>
            <a:srgbClr val="34699A"/>
          </a:solidFill>
          <a:ln w="12700">
            <a:solidFill>
              <a:srgbClr val="3469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23113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22592" y="2075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紹介予定派遣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22592" y="237744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17D"/>
                </a:solidFill>
              </a:rPr>
              <a:t>派遣期間で能力・適性を確認し、ミスマッチを抑えて直接雇用へ。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685800" y="3355848"/>
            <a:ext cx="48006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E7D5A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0392" y="3557016"/>
            <a:ext cx="530352" cy="530352"/>
          </a:xfrm>
          <a:prstGeom prst="roundRect">
            <a:avLst>
              <a:gd name="adj" fmla="val 8621"/>
            </a:avLst>
          </a:prstGeom>
          <a:solidFill>
            <a:srgbClr val="EE7D5A"/>
          </a:solidFill>
          <a:ln w="12700">
            <a:solidFill>
              <a:srgbClr val="EE7D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37398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81912" y="3584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人材紹介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581912" y="38862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17D"/>
                </a:solidFill>
              </a:rPr>
              <a:t>採用条件に合う候補者を推薦。採用活動の手間と費用を削減。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6126480" y="3355848"/>
            <a:ext cx="48006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183047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91072" y="3557016"/>
            <a:ext cx="530352" cy="530352"/>
          </a:xfrm>
          <a:prstGeom prst="roundRect">
            <a:avLst>
              <a:gd name="adj" fmla="val 8621"/>
            </a:avLst>
          </a:prstGeom>
          <a:solidFill>
            <a:srgbClr val="183047"/>
          </a:solidFill>
          <a:ln w="12700">
            <a:solidFill>
              <a:srgbClr val="1830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37398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22592" y="3584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アウトソーシング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22592" y="38862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17D"/>
                </a:solidFill>
              </a:rPr>
              <a:t>業務一括委託で品質・生産性向上、コア業務への集中を支援。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1143000" y="523951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13C"/>
                </a:solidFill>
              </a:rPr>
              <a:t>短期の欠員補充から長期の採用・業務合理化まで、一つの窓口で相談可能。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Source: employer page, business forms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MATCHING MODEL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人材要件を聞き取り、適性・経験・定着まで見る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10年以上のキャリアを持つ専任スタッフによる人選と、就業後のフォローで安定稼働を目指す。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9808" y="2359152"/>
            <a:ext cx="2331720" cy="1051560"/>
          </a:xfrm>
          <a:prstGeom prst="chevron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6609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62456" y="25786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要件ヒアリング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362456" y="285292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EF6F3"/>
                </a:solidFill>
              </a:rPr>
              <a:t>職務内容・期間・働き方を具体化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3538728" y="2359152"/>
            <a:ext cx="2331720" cy="1051560"/>
          </a:xfrm>
          <a:prstGeom prst="chevron">
            <a:avLst/>
          </a:prstGeom>
          <a:solidFill>
            <a:srgbClr val="34699A"/>
          </a:solidFill>
          <a:ln w="12700">
            <a:solidFill>
              <a:srgbClr val="3469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26609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51376" y="25786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候補者選定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51376" y="285292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EF6F3"/>
                </a:solidFill>
              </a:rPr>
              <a:t>適性・経験・希望条件を照合</a:t>
            </a:r>
            <a:endParaRPr lang="en-US" sz="670" dirty="0"/>
          </a:p>
        </p:txBody>
      </p:sp>
      <p:sp>
        <p:nvSpPr>
          <p:cNvPr id="15" name="Shape 12"/>
          <p:cNvSpPr/>
          <p:nvPr/>
        </p:nvSpPr>
        <p:spPr>
          <a:xfrm>
            <a:off x="6327648" y="2359152"/>
            <a:ext cx="2331720" cy="1051560"/>
          </a:xfrm>
          <a:prstGeom prst="chevron">
            <a:avLst/>
          </a:prstGeom>
          <a:solidFill>
            <a:srgbClr val="EE7D5A"/>
          </a:solidFill>
          <a:ln w="12700">
            <a:solidFill>
              <a:srgbClr val="EE7D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26609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40296" y="25786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就業開始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940296" y="285292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EF6F3"/>
                </a:solidFill>
              </a:rPr>
              <a:t>スキルチェックと研修を組み合わせる</a:t>
            </a:r>
            <a:endParaRPr lang="en-US" sz="670" dirty="0"/>
          </a:p>
        </p:txBody>
      </p:sp>
      <p:sp>
        <p:nvSpPr>
          <p:cNvPr id="19" name="Shape 16"/>
          <p:cNvSpPr/>
          <p:nvPr/>
        </p:nvSpPr>
        <p:spPr>
          <a:xfrm>
            <a:off x="9116568" y="2359152"/>
            <a:ext cx="2331720" cy="1051560"/>
          </a:xfrm>
          <a:prstGeom prst="chevron">
            <a:avLst/>
          </a:prstGeom>
          <a:solidFill>
            <a:srgbClr val="183047"/>
          </a:solidFill>
          <a:ln w="12700">
            <a:solidFill>
              <a:srgbClr val="1830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26880" y="26609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729216" y="257860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定着支援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729216" y="285292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EEF6F3"/>
                </a:solidFill>
              </a:rPr>
              <a:t>定期訪問・相談対応で不安を早期把握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960120" y="4251960"/>
            <a:ext cx="10149840" cy="676656"/>
          </a:xfrm>
          <a:prstGeom prst="roundRect">
            <a:avLst>
              <a:gd name="adj" fmla="val 8108"/>
            </a:avLst>
          </a:prstGeom>
          <a:solidFill>
            <a:srgbClr val="EAF6F0"/>
          </a:solidFill>
          <a:ln w="12700">
            <a:solidFill>
              <a:srgbClr val="CFE7DC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280160" y="4489704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4313C"/>
                </a:solidFill>
              </a:rPr>
              <a:t>人材派遣・紹介予定派遣・人材紹介・アウトソーシングを、企業課題に合わせて接続する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Sources: employer page / about Nichibi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CAPABILITY AREAS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オフィスから医療・教育・ITまで幅広い職種に対応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専門職と実務経験者の登録基盤により、企業の現場課題に合わせた人材提案が可能。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8" name="Image 1" descr="/Users/yuichi/Library/CloudStorage/GoogleDrive-yuichi4107@gmail.com/マイドライブ/YNFactory-cc/outputs/manual-20260519-nichibi-company-slides/presentations/nichibi-company/assets/company-off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02996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7048" y="2057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オフィスワーク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527048" y="23591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4717D"/>
                </a:solidFill>
              </a:rPr>
              <a:t>一般事務・経理・総務・受付など</a:t>
            </a:r>
            <a:endParaRPr lang="en-US" sz="740" dirty="0"/>
          </a:p>
        </p:txBody>
      </p:sp>
      <p:sp>
        <p:nvSpPr>
          <p:cNvPr id="11" name="Shape 7"/>
          <p:cNvSpPr/>
          <p:nvPr/>
        </p:nvSpPr>
        <p:spPr>
          <a:xfrm>
            <a:off x="4389120" y="182880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12" name="Image 2" descr="/Users/yuichi/Library/CloudStorage/GoogleDrive-yuichi4107@gmail.com/マイドライブ/YNFactory-cc/outputs/manual-20260519-nichibi-company-slides/presentations/nichibi-company/assets/company-med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202996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30368" y="2057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医療・介護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230368" y="23591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4717D"/>
                </a:solidFill>
              </a:rPr>
              <a:t>医療事務・受付・看護補助・介護など</a:t>
            </a:r>
            <a:endParaRPr lang="en-US" sz="740" dirty="0"/>
          </a:p>
        </p:txBody>
      </p:sp>
      <p:sp>
        <p:nvSpPr>
          <p:cNvPr id="15" name="Shape 10"/>
          <p:cNvSpPr/>
          <p:nvPr/>
        </p:nvSpPr>
        <p:spPr>
          <a:xfrm>
            <a:off x="8092440" y="182880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16" name="Image 3" descr="/Users/yuichi/Library/CloudStorage/GoogleDrive-yuichi4107@gmail.com/マイドライブ/YNFactory-cc/outputs/manual-20260519-nichibi-company-slides/presentations/nichibi-company/assets/company-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029968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33688" y="2057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IT関連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8933688" y="23591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4717D"/>
                </a:solidFill>
              </a:rPr>
              <a:t>SE・プログラミング・ヘルプデスクなど</a:t>
            </a:r>
            <a:endParaRPr lang="en-US" sz="740" dirty="0"/>
          </a:p>
        </p:txBody>
      </p:sp>
      <p:sp>
        <p:nvSpPr>
          <p:cNvPr id="19" name="Shape 13"/>
          <p:cNvSpPr/>
          <p:nvPr/>
        </p:nvSpPr>
        <p:spPr>
          <a:xfrm>
            <a:off x="685800" y="324612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20" name="Image 4" descr="/Users/yuichi/Library/CloudStorage/GoogleDrive-yuichi4107@gmail.com/マイドライブ/YNFactory-cc/outputs/manual-20260519-nichibi-company-slides/presentations/nichibi-company/assets/company-bilingu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447288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27048" y="3474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バイリンガル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527048" y="3776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4717D"/>
                </a:solidFill>
              </a:rPr>
              <a:t>翻訳・通訳・英文事務など</a:t>
            </a:r>
            <a:endParaRPr lang="en-US" sz="740" dirty="0"/>
          </a:p>
        </p:txBody>
      </p:sp>
      <p:sp>
        <p:nvSpPr>
          <p:cNvPr id="23" name="Shape 16"/>
          <p:cNvSpPr/>
          <p:nvPr/>
        </p:nvSpPr>
        <p:spPr>
          <a:xfrm>
            <a:off x="4389120" y="324612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24" name="Image 5" descr="/Users/yuichi/Library/CloudStorage/GoogleDrive-yuichi4107@gmail.com/マイドライブ/YNFactory-cc/outputs/manual-20260519-nichibi-company-slides/presentations/nichibi-company/assets/company-ar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3447288"/>
            <a:ext cx="512064" cy="5120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30368" y="3474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教育機関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5230368" y="3776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4717D"/>
                </a:solidFill>
              </a:rPr>
              <a:t>教学部事務・図書司書・研究助手など</a:t>
            </a:r>
            <a:endParaRPr lang="en-US" sz="740" dirty="0"/>
          </a:p>
        </p:txBody>
      </p:sp>
      <p:sp>
        <p:nvSpPr>
          <p:cNvPr id="27" name="Shape 19"/>
          <p:cNvSpPr/>
          <p:nvPr/>
        </p:nvSpPr>
        <p:spPr>
          <a:xfrm>
            <a:off x="8092440" y="3246120"/>
            <a:ext cx="3154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28" name="Image 6" descr="/Users/yuichi/Library/CloudStorage/GoogleDrive-yuichi4107@gmail.com/マイドライブ/YNFactory-cc/outputs/manual-20260519-nichibi-company-slides/presentations/nichibi-company/assets/company-nenre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3447288"/>
            <a:ext cx="512064" cy="5120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933688" y="34747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財務・会計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8933688" y="3776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4717D"/>
                </a:solidFill>
              </a:rPr>
              <a:t>仕訳・試算表・決算書作成など</a:t>
            </a:r>
            <a:endParaRPr lang="en-US" sz="740" dirty="0"/>
          </a:p>
        </p:txBody>
      </p:sp>
      <p:sp>
        <p:nvSpPr>
          <p:cNvPr id="31" name="Text 22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Sources: company / about Nichibi occupation list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STAFF SUPPORT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安心して働ける環境づくりが、紹介品質を支える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福利厚生、就業中フォロー、eラーニングまで、登録スタッフの継続的な活躍を支援。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13232" y="1920240"/>
            <a:ext cx="523036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8" name="Image 1" descr="/Users/yuichi/Library/CloudStorage/GoogleDrive-yuichi4107@gmail.com/マイドライブ/YNFactory-cc/outputs/manual-20260519-nichibi-company-slides/presentations/nichibi-company/assets/about-nichibi-fuku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67128"/>
            <a:ext cx="1024128" cy="10241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40280" y="21762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A65"/>
                </a:solidFill>
              </a:rPr>
              <a:t>福利厚生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240280" y="261518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社会保険・雇用保険・有給休暇・産休育休・健康診断など、安心して働くための制度を整備。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45352" y="1920240"/>
            <a:ext cx="523036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pic>
        <p:nvPicPr>
          <p:cNvPr id="12" name="Image 2" descr="/Users/yuichi/Library/CloudStorage/GoogleDrive-yuichi4107@gmail.com/マイドライブ/YNFactory-cc/outputs/manual-20260519-nichibi-company-slides/presentations/nichibi-company/assets/about-nichibi-sup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67128"/>
            <a:ext cx="1024128" cy="10241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0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699A"/>
                </a:solidFill>
              </a:rPr>
              <a:t>就業中サポート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772400" y="261518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定期訪問、相談対応、ストレスチェック、各種証明書対応で就業中の不安を軽減。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713232" y="4828032"/>
            <a:ext cx="10771632" cy="566928"/>
          </a:xfrm>
          <a:prstGeom prst="rect">
            <a:avLst/>
          </a:prstGeom>
          <a:solidFill>
            <a:srgbClr val="183047"/>
          </a:solidFill>
          <a:ln w="12700">
            <a:solidFill>
              <a:srgbClr val="18304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60120" y="50292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eラーニング: ビジネスマナー / OA基礎 / 経理・財務 / セルフマネジメント など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Sources: about Nichibi / e-learning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REGIONAL NETWORK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東海エリアの現場課題に近い人材サービス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名古屋本社を起点に、愛知・岐阜・三重・静岡の企業・求職者を結ぶ。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68680" y="1828800"/>
            <a:ext cx="4617720" cy="3218688"/>
          </a:xfrm>
          <a:prstGeom prst="rect">
            <a:avLst/>
          </a:prstGeom>
          <a:solidFill>
            <a:srgbClr val="EAF6F0"/>
          </a:solidFill>
          <a:ln w="12700">
            <a:solidFill>
              <a:srgbClr val="CFE7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23160" y="2926080"/>
            <a:ext cx="1005840" cy="530352"/>
          </a:xfrm>
          <a:prstGeom prst="ellipse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24328" y="310896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愛知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11680" y="2377440"/>
            <a:ext cx="1005840" cy="530352"/>
          </a:xfrm>
          <a:prstGeom prst="ellipse">
            <a:avLst/>
          </a:prstGeom>
          <a:solidFill>
            <a:srgbClr val="34699A"/>
          </a:solidFill>
          <a:ln w="12700">
            <a:solidFill>
              <a:srgbClr val="3469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12848" y="2560320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岐阜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57400" y="3730752"/>
            <a:ext cx="1005840" cy="530352"/>
          </a:xfrm>
          <a:prstGeom prst="ellipse">
            <a:avLst/>
          </a:prstGeom>
          <a:solidFill>
            <a:srgbClr val="EE7D5A"/>
          </a:solidFill>
          <a:ln w="12700">
            <a:solidFill>
              <a:srgbClr val="EE7D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58568" y="3913632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三重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063240" y="3822192"/>
            <a:ext cx="1005840" cy="530352"/>
          </a:xfrm>
          <a:prstGeom prst="ellipse">
            <a:avLst/>
          </a:prstGeom>
          <a:solidFill>
            <a:srgbClr val="F5C84C"/>
          </a:solidFill>
          <a:ln w="12700">
            <a:solidFill>
              <a:srgbClr val="F5C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64408" y="4005072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13C"/>
                </a:solidFill>
              </a:rPr>
              <a:t>静岡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874520"/>
            <a:ext cx="495604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27648" y="2084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A65"/>
                </a:solidFill>
              </a:rPr>
              <a:t>地域密着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315200" y="20574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17D"/>
                </a:solidFill>
              </a:rPr>
              <a:t>創業以来蓄積してきた登録者基盤で、現場に近い人材提案。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6080760" y="2862072"/>
            <a:ext cx="495604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276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4699A"/>
                </a:solidFill>
              </a:rPr>
              <a:t>スピード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315200" y="30449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17D"/>
                </a:solidFill>
              </a:rPr>
              <a:t>ニーズに合う人材をスピーディーに提供。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6080760" y="3849624"/>
            <a:ext cx="4956048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27648" y="40599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E7D5A"/>
                </a:solidFill>
              </a:rPr>
              <a:t>職種横断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7315200" y="403250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17D"/>
                </a:solidFill>
              </a:rPr>
              <a:t>オフィス・医療・教育・ITなど複数領域をカバー。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Source: employer page</a:t>
            </a:r>
            <a:endParaRPr lang="en-US" sz="5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USE CASES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企業の“今すぐ困っている”から“構造的に変えたい”まで対応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人材確保と業務合理化の両面から、現場の継続稼働を支える。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41248" y="1755648"/>
            <a:ext cx="73152" cy="38404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0704" y="1801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欠員補充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61488" y="18105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17D"/>
                </a:solidFill>
              </a:rPr>
              <a:t>急な退職・休職時の業務停止を防ぐ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41248" y="2423160"/>
            <a:ext cx="73152" cy="384048"/>
          </a:xfrm>
          <a:prstGeom prst="rect">
            <a:avLst/>
          </a:prstGeom>
          <a:solidFill>
            <a:srgbClr val="34699A"/>
          </a:solidFill>
          <a:ln w="12700">
            <a:solidFill>
              <a:srgbClr val="3469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468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繁忙期対応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61488" y="24780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17D"/>
                </a:solidFill>
              </a:rPr>
              <a:t>短期・短時間で必要人数を確保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41248" y="3090672"/>
            <a:ext cx="73152" cy="384048"/>
          </a:xfrm>
          <a:prstGeom prst="rect">
            <a:avLst/>
          </a:prstGeom>
          <a:solidFill>
            <a:srgbClr val="EE7D5A"/>
          </a:solidFill>
          <a:ln w="12700">
            <a:solidFill>
              <a:srgbClr val="EE7D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136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医療事務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61488" y="31455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17D"/>
                </a:solidFill>
              </a:rPr>
              <a:t>受付会計・病棟事務などを支援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41248" y="3758184"/>
            <a:ext cx="73152" cy="384048"/>
          </a:xfrm>
          <a:prstGeom prst="rect">
            <a:avLst/>
          </a:prstGeom>
          <a:solidFill>
            <a:srgbClr val="F5C84C"/>
          </a:solidFill>
          <a:ln w="12700">
            <a:solidFill>
              <a:srgbClr val="F5C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8039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学校事務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761488" y="3813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17D"/>
                </a:solidFill>
              </a:rPr>
              <a:t>教学・入試・図書司書などに対応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41248" y="4425696"/>
            <a:ext cx="73152" cy="384048"/>
          </a:xfrm>
          <a:prstGeom prst="rect">
            <a:avLst/>
          </a:prstGeom>
          <a:solidFill>
            <a:srgbClr val="183047"/>
          </a:solidFill>
          <a:ln w="12700">
            <a:solidFill>
              <a:srgbClr val="1830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4714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313C"/>
                </a:solidFill>
              </a:rPr>
              <a:t>業務委託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61488" y="44805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17D"/>
                </a:solidFill>
              </a:rPr>
              <a:t>受付案内・総務人事・製造管理などを合理化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06640" y="1828800"/>
            <a:ext cx="3611880" cy="2423160"/>
          </a:xfrm>
          <a:prstGeom prst="roundRect">
            <a:avLst>
              <a:gd name="adj" fmla="val 2264"/>
            </a:avLst>
          </a:prstGeom>
          <a:solidFill>
            <a:srgbClr val="183047"/>
          </a:solidFill>
          <a:ln w="12700">
            <a:solidFill>
              <a:srgbClr val="183047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2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699248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C"/>
                </a:solidFill>
              </a:rPr>
              <a:t>提案の焦点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99248" y="2606040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人数を埋めるだけでなく、業務の切り出し方・雇用形態・定着支援まで含めて設計する。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Sources: employer page / company occupation list</a:t>
            </a:r>
            <a:endParaRPr lang="en-US" sz="5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A65"/>
          </a:solidFill>
          <a:ln w="12700">
            <a:solidFill>
              <a:srgbClr val="008A65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502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8A65"/>
                </a:solidFill>
              </a:rPr>
              <a:t>START FLOW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30352" y="8412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13C"/>
                </a:solidFill>
              </a:rPr>
              <a:t>相談から就業・フォローまでの基本ステップ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66928" y="14996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企業側の求人条件を明確化し、候補者推薦・就業開始・入社後フォローまで伴走。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1170432" cy="1170432"/>
          </a:xfrm>
          <a:prstGeom prst="ellipse">
            <a:avLst/>
          </a:prstGeom>
          <a:solidFill>
            <a:srgbClr val="008A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25420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38528" y="2734056"/>
            <a:ext cx="960120" cy="0"/>
          </a:xfrm>
          <a:prstGeom prst="line">
            <a:avLst/>
          </a:prstGeom>
          <a:noFill/>
          <a:ln w="25400">
            <a:solidFill>
              <a:srgbClr val="DCE4E8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66928" y="35295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13C"/>
                </a:solidFill>
              </a:rPr>
              <a:t>お問い合わせ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38587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17D"/>
                </a:solidFill>
              </a:rPr>
              <a:t>サービス内容・資料請求・人材相談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2971800" y="2148840"/>
            <a:ext cx="1170432" cy="1170432"/>
          </a:xfrm>
          <a:prstGeom prst="ellipse">
            <a:avLst/>
          </a:prstGeom>
          <a:solidFill>
            <a:srgbClr val="3469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0712" y="25420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78808" y="2734056"/>
            <a:ext cx="960120" cy="0"/>
          </a:xfrm>
          <a:prstGeom prst="line">
            <a:avLst/>
          </a:prstGeom>
          <a:noFill/>
          <a:ln w="25400">
            <a:solidFill>
              <a:srgbClr val="DCE4E8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2807208" y="35295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13C"/>
                </a:solidFill>
              </a:rPr>
              <a:t>求人要件整理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87752" y="38587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17D"/>
                </a:solidFill>
              </a:rPr>
              <a:t>職務・期間・給与・働き方を具体化</a:t>
            </a:r>
            <a:endParaRPr lang="en-US" sz="730" dirty="0"/>
          </a:p>
        </p:txBody>
      </p:sp>
      <p:sp>
        <p:nvSpPr>
          <p:cNvPr id="17" name="Shape 14"/>
          <p:cNvSpPr/>
          <p:nvPr/>
        </p:nvSpPr>
        <p:spPr>
          <a:xfrm>
            <a:off x="5212080" y="2148840"/>
            <a:ext cx="1170432" cy="1170432"/>
          </a:xfrm>
          <a:prstGeom prst="ellipse">
            <a:avLst/>
          </a:prstGeom>
          <a:solidFill>
            <a:srgbClr val="EE7D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25420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19088" y="2734056"/>
            <a:ext cx="960120" cy="0"/>
          </a:xfrm>
          <a:prstGeom prst="line">
            <a:avLst/>
          </a:prstGeom>
          <a:noFill/>
          <a:ln w="25400">
            <a:solidFill>
              <a:srgbClr val="DCE4E8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5047488" y="35295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13C"/>
                </a:solidFill>
              </a:rPr>
              <a:t>人選・推薦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28032" y="38587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17D"/>
                </a:solidFill>
              </a:rPr>
              <a:t>条件に合うスタッフ・候補者を提案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7452360" y="2148840"/>
            <a:ext cx="1170432" cy="1170432"/>
          </a:xfrm>
          <a:prstGeom prst="ellipse">
            <a:avLst/>
          </a:prstGeom>
          <a:solidFill>
            <a:srgbClr val="F5C8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91272" y="25420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13C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659368" y="2734056"/>
            <a:ext cx="960120" cy="0"/>
          </a:xfrm>
          <a:prstGeom prst="line">
            <a:avLst/>
          </a:prstGeom>
          <a:noFill/>
          <a:ln w="25400">
            <a:solidFill>
              <a:srgbClr val="DCE4E8"/>
            </a:solidFill>
            <a:prstDash val="solid"/>
            <a:headEnd type="none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7287768" y="35295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13C"/>
                </a:solidFill>
              </a:rPr>
              <a:t>就業・採用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068312" y="38587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17D"/>
                </a:solidFill>
              </a:rPr>
              <a:t>派遣開始、紹介予定派遣、内定・入社</a:t>
            </a:r>
            <a:endParaRPr lang="en-US" sz="730" dirty="0"/>
          </a:p>
        </p:txBody>
      </p:sp>
      <p:sp>
        <p:nvSpPr>
          <p:cNvPr id="27" name="Shape 24"/>
          <p:cNvSpPr/>
          <p:nvPr/>
        </p:nvSpPr>
        <p:spPr>
          <a:xfrm>
            <a:off x="9692640" y="2148840"/>
            <a:ext cx="1170432" cy="1170432"/>
          </a:xfrm>
          <a:prstGeom prst="ellipse">
            <a:avLst/>
          </a:prstGeom>
          <a:solidFill>
            <a:srgbClr val="1830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31552" y="25420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528048" y="352958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13C"/>
                </a:solidFill>
              </a:rPr>
              <a:t>フォロー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308592" y="38587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64717D"/>
                </a:solidFill>
              </a:rPr>
              <a:t>就業中相談、入社後半年フォロー等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868680" y="5084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A65"/>
                </a:solidFill>
              </a:rPr>
              <a:t>企業向け問い合わせ: 052-265-5553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Sources: employer contact / employer page</a:t>
            </a:r>
            <a:endParaRPr lang="en-US" sz="5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C84C"/>
          </a:solidFill>
          <a:ln w="12700">
            <a:solidFill>
              <a:srgbClr val="F5C84C"/>
            </a:solidFill>
            <a:prstDash val="solid"/>
          </a:ln>
        </p:spPr>
      </p:sp>
      <p:pic>
        <p:nvPicPr>
          <p:cNvPr id="3" name="Image 0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56032"/>
            <a:ext cx="1417320" cy="338328"/>
          </a:xfrm>
          <a:prstGeom prst="rect">
            <a:avLst/>
          </a:prstGeom>
        </p:spPr>
      </p:pic>
      <p:pic>
        <p:nvPicPr>
          <p:cNvPr id="4" name="Image 1" descr="/Users/yuichi/Library/CloudStorage/GoogleDrive-yuichi4107@gmail.com/マイドライブ/YNFactory-cc/outputs/manual-20260519-nichibi-company-slides/presentations/nichibi-company/assets/nichibi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2011680" cy="4846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日美株式会社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232" y="20848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E5E0"/>
                </a:solidFill>
              </a:rPr>
              <a:t>人材派遣業 許可番号: 派23-020031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5E0"/>
                </a:solidFill>
              </a:rPr>
              <a:t>有料職業紹介事業 許可番号: 23-ユ-020188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897880" y="1234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C"/>
                </a:solidFill>
              </a:rPr>
              <a:t>代表者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931152" y="12344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代表取締役社長 長谷川裕一</a:t>
            </a:r>
            <a:endParaRPr lang="en-US" sz="880" dirty="0"/>
          </a:p>
        </p:txBody>
      </p:sp>
      <p:sp>
        <p:nvSpPr>
          <p:cNvPr id="9" name="Shape 5"/>
          <p:cNvSpPr/>
          <p:nvPr/>
        </p:nvSpPr>
        <p:spPr>
          <a:xfrm>
            <a:off x="5897880" y="1581912"/>
            <a:ext cx="5120640" cy="0"/>
          </a:xfrm>
          <a:prstGeom prst="line">
            <a:avLst/>
          </a:prstGeom>
          <a:noFill/>
          <a:ln w="8890">
            <a:solidFill>
              <a:srgbClr val="496070">
                <a:alpha val="8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97880" y="18562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C"/>
                </a:solidFill>
              </a:rPr>
              <a:t>所在地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931152" y="18562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〒460-0003 名古屋市中区錦一丁目5番13号 オリックス名古屋錦ビル9階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5897880" y="2203704"/>
            <a:ext cx="5120640" cy="0"/>
          </a:xfrm>
          <a:prstGeom prst="line">
            <a:avLst/>
          </a:prstGeom>
          <a:noFill/>
          <a:ln w="8890">
            <a:solidFill>
              <a:srgbClr val="496070">
                <a:alpha val="8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97880" y="24780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C"/>
                </a:solidFill>
              </a:rPr>
              <a:t>設立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931152" y="247802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昭和59年5月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5897880" y="2825496"/>
            <a:ext cx="5120640" cy="0"/>
          </a:xfrm>
          <a:prstGeom prst="line">
            <a:avLst/>
          </a:prstGeom>
          <a:noFill/>
          <a:ln w="8890">
            <a:solidFill>
              <a:srgbClr val="496070">
                <a:alpha val="8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97880" y="3099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C"/>
                </a:solidFill>
              </a:rPr>
              <a:t>資本金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931152" y="309981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5,000万円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5897880" y="3447288"/>
            <a:ext cx="5120640" cy="0"/>
          </a:xfrm>
          <a:prstGeom prst="line">
            <a:avLst/>
          </a:prstGeom>
          <a:noFill/>
          <a:ln w="8890">
            <a:solidFill>
              <a:srgbClr val="496070">
                <a:alpha val="8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97880" y="3721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C"/>
                </a:solidFill>
              </a:rPr>
              <a:t>TEL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931152" y="37216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052-265-5553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5897880" y="4069080"/>
            <a:ext cx="5120640" cy="0"/>
          </a:xfrm>
          <a:prstGeom prst="line">
            <a:avLst/>
          </a:prstGeom>
          <a:noFill/>
          <a:ln w="8890">
            <a:solidFill>
              <a:srgbClr val="496070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97880" y="43434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C"/>
                </a:solidFill>
              </a:rPr>
              <a:t>URL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931152" y="4343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https://nichibi-web.co.jp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5897880" y="4690872"/>
            <a:ext cx="5120640" cy="0"/>
          </a:xfrm>
          <a:prstGeom prst="line">
            <a:avLst/>
          </a:prstGeom>
          <a:noFill/>
          <a:ln w="8890">
            <a:solidFill>
              <a:srgbClr val="496070">
                <a:alpha val="85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3232" y="54406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C"/>
                </a:solidFill>
              </a:rPr>
              <a:t>人材の総合コーディネーターとして、企業経営の合理化をサポートします。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02920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4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Source: company overview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YNFactory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日美株式会社 会社説明資料</dc:title>
  <dc:subject>日美株式会社 会社説明資料</dc:subject>
  <dc:creator>YNFactory</dc:creator>
  <cp:lastModifiedBy>YNFactory</cp:lastModifiedBy>
  <cp:revision>1</cp:revision>
  <dcterms:created xsi:type="dcterms:W3CDTF">2026-05-19T08:07:49Z</dcterms:created>
  <dcterms:modified xsi:type="dcterms:W3CDTF">2026-05-19T08:07:49Z</dcterms:modified>
</cp:coreProperties>
</file>