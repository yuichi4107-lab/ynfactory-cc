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0"/>
            <a:ext cx="4828032" cy="6858000"/>
          </a:xfrm>
          <a:prstGeom prst="rect">
            <a:avLst/>
          </a:prstGeom>
          <a:solidFill>
            <a:srgbClr val="182635"/>
          </a:solidFill>
          <a:ln w="12700">
            <a:solidFill>
              <a:srgbClr val="1826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0920" y="0"/>
            <a:ext cx="1234440" cy="6858000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658368" cy="6858000"/>
          </a:xfrm>
          <a:prstGeom prst="rect">
            <a:avLst/>
          </a:prstGeom>
          <a:solidFill>
            <a:srgbClr val="2667FF"/>
          </a:solidFill>
          <a:ln w="12700">
            <a:solidFill>
              <a:srgbClr val="2667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53728" y="0"/>
            <a:ext cx="658368" cy="6858000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12096" y="0"/>
            <a:ext cx="658368" cy="68580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0464" y="0"/>
            <a:ext cx="1618488" cy="6858000"/>
          </a:xfrm>
          <a:prstGeom prst="rect">
            <a:avLst/>
          </a:prstGeom>
          <a:solidFill>
            <a:srgbClr val="00A7A0"/>
          </a:solidFill>
          <a:ln w="12700">
            <a:solidFill>
              <a:srgbClr val="00A7A0">
                <a:alpha val="0"/>
              </a:srgbClr>
            </a:solidFill>
            <a:prstDash val="solid"/>
          </a:ln>
        </p:spPr>
      </p:sp>
      <p:pic>
        <p:nvPicPr>
          <p:cNvPr id="8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1572768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81160" y="4206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NICHIBI COMPANY PROFILE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21792" y="12984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A65"/>
                </a:solidFill>
              </a:rPr>
              <a:t>会社説明資料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6072" y="1737360"/>
            <a:ext cx="5806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82635"/>
                </a:solidFill>
              </a:rPr>
              <a:t>企業の未来を支える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82635"/>
                </a:solidFill>
              </a:rPr>
              <a:t>人材の総合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82635"/>
                </a:solidFill>
              </a:rPr>
              <a:t>コーディネーター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621792" y="4315968"/>
            <a:ext cx="5230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07A"/>
                </a:solidFill>
              </a:rPr>
              <a:t>東海エリアを中心に、人材派遣・紹介予定派遣・人材紹介・アウトソーシングで企業の合理化と成長を支援。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467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30年以上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10168128" y="151790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経験・ノウハウ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046720" y="1847088"/>
            <a:ext cx="3127248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20,000人超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0168128" y="28437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登録者基盤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046720" y="3172968"/>
            <a:ext cx="3127248" cy="45720"/>
          </a:xfrm>
          <a:prstGeom prst="rect">
            <a:avLst/>
          </a:prstGeom>
          <a:solidFill>
            <a:srgbClr val="78B7FF"/>
          </a:solidFill>
          <a:ln w="12700">
            <a:solidFill>
              <a:srgbClr val="78B7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4つ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10168128" y="41696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就業形態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046720" y="4498848"/>
            <a:ext cx="3127248" cy="457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" y="644652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company / employer page</a:t>
            </a:r>
            <a:endParaRPr lang="en-US" sz="5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2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1572768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4206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DCE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NICHIBI COMPANY PROFILE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66928" y="8778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30352" y="111556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人材は、企業の持つ力そのもの。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17739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4E1DD"/>
                </a:solidFill>
              </a:rPr>
              <a:t>日美の会社説明では、派遣を単なる事務処理ではなく、成長のためのコーディネートとして伝える。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566928" y="2487168"/>
            <a:ext cx="7269480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278892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D166"/>
                </a:solidFill>
              </a:rPr>
              <a:t>“企業の未来を支えるのは人”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7818120" y="1508760"/>
            <a:ext cx="3291840" cy="713232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65008" y="167335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人材投入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217152" y="166420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</a:rPr>
              <a:t>企業ニーズに合わせて必要な人材を投入</a:t>
            </a:r>
            <a:endParaRPr lang="en-US" sz="680" dirty="0"/>
          </a:p>
        </p:txBody>
      </p:sp>
      <p:sp>
        <p:nvSpPr>
          <p:cNvPr id="12" name="Shape 9"/>
          <p:cNvSpPr/>
          <p:nvPr/>
        </p:nvSpPr>
        <p:spPr>
          <a:xfrm>
            <a:off x="7818120" y="2679192"/>
            <a:ext cx="3291840" cy="713232"/>
          </a:xfrm>
          <a:prstGeom prst="rect">
            <a:avLst/>
          </a:prstGeom>
          <a:solidFill>
            <a:srgbClr val="2667FF"/>
          </a:solidFill>
          <a:ln w="12700">
            <a:solidFill>
              <a:srgbClr val="2667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65008" y="284378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提案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217152" y="283464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</a:rPr>
              <a:t>短時間・短期など、柔軟な人材活用を設計</a:t>
            </a:r>
            <a:endParaRPr lang="en-US" sz="680" dirty="0"/>
          </a:p>
        </p:txBody>
      </p:sp>
      <p:sp>
        <p:nvSpPr>
          <p:cNvPr id="15" name="Shape 12"/>
          <p:cNvSpPr/>
          <p:nvPr/>
        </p:nvSpPr>
        <p:spPr>
          <a:xfrm>
            <a:off x="7818120" y="3849624"/>
            <a:ext cx="3291840" cy="713232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65008" y="401421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業務合理化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217152" y="40050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</a:rPr>
              <a:t>アウトソーシングで経営資源をコア業務へ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530352" y="644652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company page</a:t>
            </a:r>
            <a:endParaRPr lang="en-US" sz="5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1572768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4206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NICHIBI COMPANY PROFILE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66928" y="8778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A GLANCE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30352" y="111556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635"/>
                </a:solidFill>
              </a:rPr>
              <a:t>数字で見る日美株式会社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17739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3707A"/>
                </a:solidFill>
              </a:rPr>
              <a:t>公式サイトに掲載された会社概要と企業向け情報から、説明で使いやすい基本情報を整理。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621792" y="2359152"/>
            <a:ext cx="10835640" cy="73152"/>
          </a:xfrm>
          <a:prstGeom prst="rect">
            <a:avLst/>
          </a:prstGeom>
          <a:solidFill>
            <a:srgbClr val="182635"/>
          </a:solidFill>
          <a:ln w="12700">
            <a:solidFill>
              <a:srgbClr val="18263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788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8A65"/>
                </a:solidFill>
              </a:rPr>
              <a:t>1984年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749808" y="3273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544"/>
                </a:solidFill>
              </a:rPr>
              <a:t>会社設立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43544"/>
                </a:solidFill>
              </a:rPr>
              <a:t>昭和59年5月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453128" y="2788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67FF"/>
                </a:solidFill>
              </a:rPr>
              <a:t>5,000万円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4453128" y="3273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544"/>
                </a:solidFill>
              </a:rPr>
              <a:t>資本金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156448" y="2788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26D5B"/>
                </a:solidFill>
              </a:rPr>
              <a:t>250名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8156448" y="3273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544"/>
                </a:solidFill>
              </a:rPr>
              <a:t>派遣業務員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43544"/>
                </a:solidFill>
              </a:rPr>
              <a:t>2021年5月現在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49808" y="3886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9F1C"/>
                </a:solidFill>
              </a:rPr>
              <a:t>20,000人超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749808" y="4370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544"/>
                </a:solidFill>
              </a:rPr>
              <a:t>登録者基盤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453128" y="3886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A7A0"/>
                </a:solidFill>
              </a:rPr>
              <a:t>派23-020031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4453128" y="4370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544"/>
                </a:solidFill>
              </a:rPr>
              <a:t>人材派遣業許可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156448" y="3886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C23B75"/>
                </a:solidFill>
              </a:rPr>
              <a:t>23-ユ-020188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8156448" y="4370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544"/>
                </a:solidFill>
              </a:rPr>
              <a:t>有料職業紹介事業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138160" y="5285232"/>
            <a:ext cx="3017520" cy="438912"/>
          </a:xfrm>
          <a:prstGeom prst="rect">
            <a:avLst/>
          </a:prstGeom>
          <a:solidFill>
            <a:srgbClr val="182635"/>
          </a:solidFill>
          <a:ln w="12700">
            <a:solidFill>
              <a:srgbClr val="182635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5440680"/>
            <a:ext cx="2514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名古屋市中区錦一丁目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530352" y="644652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company overview / employer page</a:t>
            </a:r>
            <a:endParaRPr lang="en-US" sz="5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1572768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4206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NICHIBI COMPANY PROFILE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66928" y="8778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NICHIBI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30352" y="111556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635"/>
                </a:solidFill>
              </a:rPr>
              <a:t>選ばれる理由を、7つの色で見せる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17739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3707A"/>
                </a:solidFill>
              </a:rPr>
              <a:t>地域密着、専門性、柔軟性、定着支援を一枚で伝えるモザイク型の説明ページ。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685800" y="2084832"/>
            <a:ext cx="2103120" cy="1097280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223113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01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886968" y="2468880"/>
            <a:ext cx="17007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安定の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マッチング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6968" y="2889504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FFFFFF"/>
                </a:solidFill>
              </a:rPr>
              <a:t>専任スタッフが適性を把握</a:t>
            </a:r>
            <a:endParaRPr lang="en-US" sz="630" dirty="0"/>
          </a:p>
        </p:txBody>
      </p:sp>
      <p:sp>
        <p:nvSpPr>
          <p:cNvPr id="11" name="Shape 8"/>
          <p:cNvSpPr/>
          <p:nvPr/>
        </p:nvSpPr>
        <p:spPr>
          <a:xfrm>
            <a:off x="2971800" y="2084832"/>
            <a:ext cx="1600200" cy="10972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36392" y="223113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172968" y="2468880"/>
            <a:ext cx="1197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給与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設計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172968" y="288950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FFFFFF"/>
                </a:solidFill>
              </a:rPr>
              <a:t>魅力ある給与提示で定着へ</a:t>
            </a:r>
            <a:endParaRPr lang="en-US" sz="630" dirty="0"/>
          </a:p>
        </p:txBody>
      </p:sp>
      <p:sp>
        <p:nvSpPr>
          <p:cNvPr id="15" name="Shape 12"/>
          <p:cNvSpPr/>
          <p:nvPr/>
        </p:nvSpPr>
        <p:spPr>
          <a:xfrm>
            <a:off x="4754880" y="2084832"/>
            <a:ext cx="2057400" cy="1097280"/>
          </a:xfrm>
          <a:prstGeom prst="rect">
            <a:avLst/>
          </a:prstGeom>
          <a:solidFill>
            <a:srgbClr val="2667FF"/>
          </a:solidFill>
          <a:ln w="12700">
            <a:solidFill>
              <a:srgbClr val="2667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9472" y="223113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03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956048" y="2468880"/>
            <a:ext cx="1655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地域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密着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956048" y="2889504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FFFFFF"/>
                </a:solidFill>
              </a:rPr>
              <a:t>愛知・岐阜・三重中心</a:t>
            </a:r>
            <a:endParaRPr lang="en-US" sz="630" dirty="0"/>
          </a:p>
        </p:txBody>
      </p:sp>
      <p:sp>
        <p:nvSpPr>
          <p:cNvPr id="19" name="Shape 16"/>
          <p:cNvSpPr/>
          <p:nvPr/>
        </p:nvSpPr>
        <p:spPr>
          <a:xfrm>
            <a:off x="6995160" y="2084832"/>
            <a:ext cx="2057400" cy="1097280"/>
          </a:xfrm>
          <a:prstGeom prst="rect">
            <a:avLst/>
          </a:prstGeom>
          <a:solidFill>
            <a:srgbClr val="C23B75"/>
          </a:solidFill>
          <a:ln w="12700">
            <a:solidFill>
              <a:srgbClr val="C23B75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59752" y="223113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04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196328" y="2468880"/>
            <a:ext cx="1655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リピート率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196328" y="2889504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FFFFFF"/>
                </a:solidFill>
              </a:rPr>
              <a:t>技術だけでなく人柄も重視</a:t>
            </a:r>
            <a:endParaRPr lang="en-US" sz="630" dirty="0"/>
          </a:p>
        </p:txBody>
      </p:sp>
      <p:sp>
        <p:nvSpPr>
          <p:cNvPr id="23" name="Shape 20"/>
          <p:cNvSpPr/>
          <p:nvPr/>
        </p:nvSpPr>
        <p:spPr>
          <a:xfrm>
            <a:off x="685800" y="3456432"/>
            <a:ext cx="2743200" cy="1170432"/>
          </a:xfrm>
          <a:prstGeom prst="rect">
            <a:avLst/>
          </a:prstGeom>
          <a:solidFill>
            <a:srgbClr val="00A7A0"/>
          </a:solidFill>
          <a:ln w="12700">
            <a:solidFill>
              <a:srgbClr val="00A7A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0392" y="360273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05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886968" y="3840480"/>
            <a:ext cx="2340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柔軟な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人材活用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86968" y="4334256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FFFFFF"/>
                </a:solidFill>
              </a:rPr>
              <a:t>短時間・短期間にも対応</a:t>
            </a:r>
            <a:endParaRPr lang="en-US" sz="630" dirty="0"/>
          </a:p>
        </p:txBody>
      </p:sp>
      <p:sp>
        <p:nvSpPr>
          <p:cNvPr id="27" name="Shape 24"/>
          <p:cNvSpPr/>
          <p:nvPr/>
        </p:nvSpPr>
        <p:spPr>
          <a:xfrm>
            <a:off x="3611880" y="3456432"/>
            <a:ext cx="2194560" cy="1170432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76472" y="360273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06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813048" y="3840480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専門性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3813048" y="4334256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FFFFFF"/>
                </a:solidFill>
              </a:rPr>
              <a:t>医療・教育・多言語も対応</a:t>
            </a:r>
            <a:endParaRPr lang="en-US" sz="630" dirty="0"/>
          </a:p>
        </p:txBody>
      </p:sp>
      <p:sp>
        <p:nvSpPr>
          <p:cNvPr id="31" name="Shape 28"/>
          <p:cNvSpPr/>
          <p:nvPr/>
        </p:nvSpPr>
        <p:spPr>
          <a:xfrm>
            <a:off x="5989320" y="3456432"/>
            <a:ext cx="3063240" cy="1170432"/>
          </a:xfrm>
          <a:prstGeom prst="rect">
            <a:avLst/>
          </a:prstGeom>
          <a:solidFill>
            <a:srgbClr val="182635"/>
          </a:solidFill>
          <a:ln w="12700">
            <a:solidFill>
              <a:srgbClr val="182635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53912" y="360273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07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190488" y="3840480"/>
            <a:ext cx="2660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4つの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就業形態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190488" y="4334256"/>
            <a:ext cx="266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FFFFFF"/>
                </a:solidFill>
              </a:rPr>
              <a:t>人材計画を広く支援</a:t>
            </a:r>
            <a:endParaRPr lang="en-US" sz="630" dirty="0"/>
          </a:p>
        </p:txBody>
      </p:sp>
      <p:sp>
        <p:nvSpPr>
          <p:cNvPr id="35" name="Text 32"/>
          <p:cNvSpPr/>
          <p:nvPr/>
        </p:nvSpPr>
        <p:spPr>
          <a:xfrm>
            <a:off x="530352" y="644652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employer page, 7 reasons</a:t>
            </a:r>
            <a:endParaRPr lang="en-US" sz="5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1572768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4206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NICHIBI COMPANY PROFILE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66928" y="8778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PORTFOLIO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30352" y="111556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635"/>
                </a:solidFill>
              </a:rPr>
              <a:t>課題別に選べる4つの就業形態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17739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3707A"/>
                </a:solidFill>
              </a:rPr>
              <a:t>人材の確保から業務合理化まで、相談内容に応じてサービスを組み合わせる。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749808" y="2304288"/>
            <a:ext cx="4526280" cy="859536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" y="253288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554480" y="250545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人材派遣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54480" y="279806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</a:rPr>
              <a:t>必要な時、必要な人材を適材適所へ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5961888" y="2304288"/>
            <a:ext cx="4526280" cy="859536"/>
          </a:xfrm>
          <a:prstGeom prst="rect">
            <a:avLst/>
          </a:prstGeom>
          <a:solidFill>
            <a:srgbClr val="2667FF"/>
          </a:solidFill>
          <a:ln w="12700">
            <a:solidFill>
              <a:srgbClr val="2667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81344" y="253288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66560" y="250545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紹介予定派遣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66560" y="279806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</a:rPr>
              <a:t>派遣期間でミスマッチを抑えて直接雇用へ</a:t>
            </a:r>
            <a:endParaRPr lang="en-US" sz="730" dirty="0"/>
          </a:p>
        </p:txBody>
      </p:sp>
      <p:sp>
        <p:nvSpPr>
          <p:cNvPr id="15" name="Shape 12"/>
          <p:cNvSpPr/>
          <p:nvPr/>
        </p:nvSpPr>
        <p:spPr>
          <a:xfrm>
            <a:off x="749808" y="3721608"/>
            <a:ext cx="4526280" cy="859536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9264" y="395020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554480" y="392277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人材紹介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54480" y="421538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</a:rPr>
              <a:t>採用活動の手間と費用を削減</a:t>
            </a:r>
            <a:endParaRPr lang="en-US" sz="730" dirty="0"/>
          </a:p>
        </p:txBody>
      </p:sp>
      <p:sp>
        <p:nvSpPr>
          <p:cNvPr id="19" name="Shape 16"/>
          <p:cNvSpPr/>
          <p:nvPr/>
        </p:nvSpPr>
        <p:spPr>
          <a:xfrm>
            <a:off x="5961888" y="3721608"/>
            <a:ext cx="4526280" cy="859536"/>
          </a:xfrm>
          <a:prstGeom prst="rect">
            <a:avLst/>
          </a:prstGeom>
          <a:solidFill>
            <a:srgbClr val="182635"/>
          </a:solidFill>
          <a:ln w="12700">
            <a:solidFill>
              <a:srgbClr val="182635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81344" y="395020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766560" y="392277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アウトソーシング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66560" y="421538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</a:rPr>
              <a:t>業務委託で品質・生産性向上</a:t>
            </a:r>
            <a:endParaRPr lang="en-US" sz="730" dirty="0"/>
          </a:p>
        </p:txBody>
      </p:sp>
      <p:sp>
        <p:nvSpPr>
          <p:cNvPr id="23" name="Shape 20"/>
          <p:cNvSpPr/>
          <p:nvPr/>
        </p:nvSpPr>
        <p:spPr>
          <a:xfrm>
            <a:off x="749808" y="5468112"/>
            <a:ext cx="978408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9808" y="565099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635"/>
                </a:solidFill>
              </a:rPr>
              <a:t>短期の欠員補充から長期採用・業務委託まで、一つの窓口で相談可能。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0352" y="644652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employer page, business forms</a:t>
            </a:r>
            <a:endParaRPr lang="en-US" sz="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1572768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4206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NICHIBI COMPANY PROFILE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66928" y="8778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MODEL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30352" y="111556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635"/>
                </a:solidFill>
              </a:rPr>
              <a:t>聞き取り、見極め、支える。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17739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3707A"/>
                </a:solidFill>
              </a:rPr>
              <a:t>要件整理から就業後フォローまで、企業とスタッフの双方に無理のない接点をつくる。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914400" y="2743200"/>
            <a:ext cx="1938528" cy="129844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2907792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078992" y="31821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要件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ヒアリング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78992" y="370332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職務・期間・条件を具体化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2971800" y="3355848"/>
            <a:ext cx="420624" cy="64008"/>
          </a:xfrm>
          <a:prstGeom prst="rect">
            <a:avLst/>
          </a:prstGeom>
          <a:solidFill>
            <a:srgbClr val="182635"/>
          </a:solidFill>
          <a:ln w="12700">
            <a:solidFill>
              <a:srgbClr val="18263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0" y="2578608"/>
            <a:ext cx="1938528" cy="1298448"/>
          </a:xfrm>
          <a:prstGeom prst="rect">
            <a:avLst/>
          </a:prstGeom>
          <a:solidFill>
            <a:srgbClr val="2667FF"/>
          </a:solidFill>
          <a:ln w="12700">
            <a:solidFill>
              <a:srgbClr val="2667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22192" y="274320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02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822192" y="30175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候補者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選定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822192" y="35387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適性・経験・希望条件を照合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5715000" y="3191256"/>
            <a:ext cx="420624" cy="64008"/>
          </a:xfrm>
          <a:prstGeom prst="rect">
            <a:avLst/>
          </a:prstGeom>
          <a:solidFill>
            <a:srgbClr val="182635"/>
          </a:solidFill>
          <a:ln w="12700">
            <a:solidFill>
              <a:srgbClr val="18263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2414016"/>
            <a:ext cx="1938528" cy="1298448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65392" y="257860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03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565392" y="28529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就業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開始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65392" y="33741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スキルチェックと研修を接続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8458200" y="3026664"/>
            <a:ext cx="420624" cy="64008"/>
          </a:xfrm>
          <a:prstGeom prst="rect">
            <a:avLst/>
          </a:prstGeom>
          <a:solidFill>
            <a:srgbClr val="182635"/>
          </a:solidFill>
          <a:ln w="12700">
            <a:solidFill>
              <a:srgbClr val="182635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44000" y="2249424"/>
            <a:ext cx="1938528" cy="129844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08592" y="241401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9308592" y="26883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定着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支援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308592" y="320954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相談・定期訪問で不安を軽減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530352" y="644652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employer page / about Nichibi</a:t>
            </a:r>
            <a:endParaRPr lang="en-US" sz="5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2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1572768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4206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DCE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NICHIBI COMPANY PROFILE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66928" y="8778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AREAS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30352" y="111556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対応職種を、面で広く持つ。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17739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4E1DD"/>
                </a:solidFill>
              </a:rPr>
              <a:t>オフィスワークから専門領域まで、現場課題に合わせて人材提案できることを見せるページ。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749808" y="2743200"/>
            <a:ext cx="1463040" cy="184708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>
                <a:alpha val="0"/>
              </a:srgbClr>
            </a:solidFill>
            <a:prstDash val="solid"/>
          </a:ln>
        </p:spPr>
      </p:sp>
      <p:pic>
        <p:nvPicPr>
          <p:cNvPr id="8" name="Image 1" descr="/Users/yuichi/Library/CloudStorage/GoogleDrive-yuichi4107@gmail.com/マイドライブ/YNFactory-cc/outputs/manual-20260519-nichibi-company-slides/presentations/nichibi-company/assets/company-off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99923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373075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オフィス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ワーク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596896" y="2743200"/>
            <a:ext cx="1463040" cy="1847088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</p:sp>
      <p:pic>
        <p:nvPicPr>
          <p:cNvPr id="11" name="Image 2" descr="/Users/yuichi/Library/CloudStorage/GoogleDrive-yuichi4107@gmail.com/マイドライブ/YNFactory-cc/outputs/manual-20260519-nichibi-company-slides/presentations/nichibi-company/assets/company-med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944" y="2999232"/>
            <a:ext cx="566928" cy="5669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79776" y="373075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医療・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介護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443984" y="2743200"/>
            <a:ext cx="1463040" cy="1847088"/>
          </a:xfrm>
          <a:prstGeom prst="rect">
            <a:avLst/>
          </a:prstGeom>
          <a:solidFill>
            <a:srgbClr val="2667FF"/>
          </a:solidFill>
          <a:ln w="12700">
            <a:solidFill>
              <a:srgbClr val="2667FF">
                <a:alpha val="0"/>
              </a:srgbClr>
            </a:solidFill>
            <a:prstDash val="solid"/>
          </a:ln>
        </p:spPr>
      </p:sp>
      <p:pic>
        <p:nvPicPr>
          <p:cNvPr id="14" name="Image 3" descr="/Users/yuichi/Library/CloudStorage/GoogleDrive-yuichi4107@gmail.com/マイドライブ/YNFactory-cc/outputs/manual-20260519-nichibi-company-slides/presentations/nichibi-company/assets/company-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999232"/>
            <a:ext cx="566928" cy="5669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26864" y="373075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関連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291072" y="2743200"/>
            <a:ext cx="1463040" cy="184708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</p:sp>
      <p:pic>
        <p:nvPicPr>
          <p:cNvPr id="17" name="Image 4" descr="/Users/yuichi/Library/CloudStorage/GoogleDrive-yuichi4107@gmail.com/マイドライブ/YNFactory-cc/outputs/manual-20260519-nichibi-company-slides/presentations/nichibi-company/assets/company-bilingu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999232"/>
            <a:ext cx="566928" cy="5669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73952" y="373075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バイ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リンガル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8138160" y="2743200"/>
            <a:ext cx="1463040" cy="1847088"/>
          </a:xfrm>
          <a:prstGeom prst="rect">
            <a:avLst/>
          </a:prstGeom>
          <a:solidFill>
            <a:srgbClr val="00A7A0"/>
          </a:solidFill>
          <a:ln w="12700">
            <a:solidFill>
              <a:srgbClr val="00A7A0">
                <a:alpha val="0"/>
              </a:srgbClr>
            </a:solidFill>
            <a:prstDash val="solid"/>
          </a:ln>
        </p:spPr>
      </p:sp>
      <p:pic>
        <p:nvPicPr>
          <p:cNvPr id="20" name="Image 5" descr="/Users/yuichi/Library/CloudStorage/GoogleDrive-yuichi4107@gmail.com/マイドライブ/YNFactory-cc/outputs/manual-20260519-nichibi-company-slides/presentations/nichibi-company/assets/company-are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2999232"/>
            <a:ext cx="566928" cy="56692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321040" y="373075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教育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機関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9985248" y="2743200"/>
            <a:ext cx="1463040" cy="1847088"/>
          </a:xfrm>
          <a:prstGeom prst="rect">
            <a:avLst/>
          </a:prstGeom>
          <a:solidFill>
            <a:srgbClr val="C23B75"/>
          </a:solidFill>
          <a:ln w="12700">
            <a:solidFill>
              <a:srgbClr val="C23B75">
                <a:alpha val="0"/>
              </a:srgbClr>
            </a:solidFill>
            <a:prstDash val="solid"/>
          </a:ln>
        </p:spPr>
      </p:sp>
      <p:pic>
        <p:nvPicPr>
          <p:cNvPr id="23" name="Image 6" descr="/Users/yuichi/Library/CloudStorage/GoogleDrive-yuichi4107@gmail.com/マイドライブ/YNFactory-cc/outputs/manual-20260519-nichibi-company-slides/presentations/nichibi-company/assets/company-nenre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9296" y="2999232"/>
            <a:ext cx="566928" cy="56692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168128" y="373075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財務・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会計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841248" y="523036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8E2"/>
                </a:solidFill>
              </a:rPr>
              <a:t>一般事務 / 医療事務 / SE / 翻訳通訳 / 教学部事務 / 仕訳・決算書作成 など</a:t>
            </a:r>
            <a:endParaRPr lang="en-US" sz="820" dirty="0"/>
          </a:p>
        </p:txBody>
      </p:sp>
      <p:sp>
        <p:nvSpPr>
          <p:cNvPr id="26" name="Text 17"/>
          <p:cNvSpPr/>
          <p:nvPr/>
        </p:nvSpPr>
        <p:spPr>
          <a:xfrm>
            <a:off x="530352" y="644652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company / about Nichibi occupation list</a:t>
            </a:r>
            <a:endParaRPr lang="en-US" sz="5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1572768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4206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NICHIBI COMPANY PROFILE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66928" y="8778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SUPPORT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30352" y="111556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635"/>
                </a:solidFill>
              </a:rPr>
              <a:t>働く人の安心が、紹介品質を底上げする。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17739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3707A"/>
                </a:solidFill>
              </a:rPr>
              <a:t>福利厚生・就業中サポート・eラーニングを、企業にとっての定着支援として見せる。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777240" y="2423160"/>
            <a:ext cx="3108960" cy="1965960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>
                <a:alpha val="0"/>
              </a:srgbClr>
            </a:solidFill>
            <a:prstDash val="solid"/>
          </a:ln>
        </p:spPr>
      </p:sp>
      <p:pic>
        <p:nvPicPr>
          <p:cNvPr id="8" name="Image 1" descr="/Users/yuichi/Library/CloudStorage/GoogleDrive-yuichi4107@gmail.com/マイドライブ/YNFactory-cc/outputs/manual-20260519-nichibi-company-slides/presentations/nichibi-company/assets/about-nichibi-fuku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761488"/>
            <a:ext cx="749808" cy="7498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29968" y="28529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福利厚生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029968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社会保険・雇用保険・有給休暇・産休育休・健康診断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4160520" y="2423160"/>
            <a:ext cx="3108960" cy="1965960"/>
          </a:xfrm>
          <a:prstGeom prst="rect">
            <a:avLst/>
          </a:prstGeom>
          <a:solidFill>
            <a:srgbClr val="2667FF"/>
          </a:solidFill>
          <a:ln w="12700">
            <a:solidFill>
              <a:srgbClr val="2667FF">
                <a:alpha val="0"/>
              </a:srgbClr>
            </a:solidFill>
            <a:prstDash val="solid"/>
          </a:ln>
        </p:spPr>
      </p:sp>
      <p:pic>
        <p:nvPicPr>
          <p:cNvPr id="12" name="Image 2" descr="/Users/yuichi/Library/CloudStorage/GoogleDrive-yuichi4107@gmail.com/マイドライブ/YNFactory-cc/outputs/manual-20260519-nichibi-company-slides/presentations/nichibi-company/assets/about-nichibi-suppo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761488"/>
            <a:ext cx="749808" cy="7498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13248" y="27614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就業中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サポート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413248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定期訪問・相談対応・ストレスチェック・証明書対応</a:t>
            </a:r>
            <a:endParaRPr lang="en-US" sz="650" dirty="0"/>
          </a:p>
        </p:txBody>
      </p:sp>
      <p:sp>
        <p:nvSpPr>
          <p:cNvPr id="15" name="Shape 10"/>
          <p:cNvSpPr/>
          <p:nvPr/>
        </p:nvSpPr>
        <p:spPr>
          <a:xfrm>
            <a:off x="7543800" y="2423160"/>
            <a:ext cx="3108960" cy="19659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882128" y="272491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034272" y="316382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</a:rPr>
              <a:t>ビジネスマナー / OA基礎 / 経理・財務 / セルフマネジメント</a:t>
            </a:r>
            <a:endParaRPr lang="en-US" sz="620" dirty="0"/>
          </a:p>
        </p:txBody>
      </p:sp>
      <p:sp>
        <p:nvSpPr>
          <p:cNvPr id="18" name="Text 13"/>
          <p:cNvSpPr/>
          <p:nvPr/>
        </p:nvSpPr>
        <p:spPr>
          <a:xfrm>
            <a:off x="530352" y="644652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about Nichibi / e-learning</a:t>
            </a:r>
            <a:endParaRPr lang="en-US" sz="5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1572768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4206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NICHIBI COMPANY PROFILE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66928" y="8778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NETWORK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30352" y="111556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635"/>
                </a:solidFill>
              </a:rPr>
              <a:t>東海エリアの現場に近い。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17739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3707A"/>
                </a:solidFill>
              </a:rPr>
              <a:t>名古屋本社を起点に、愛知・岐阜・三重・静岡の企業・求職者を結ぶ。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713232" y="2423160"/>
            <a:ext cx="2743200" cy="1463040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11880" y="1874520"/>
            <a:ext cx="1920240" cy="1463040"/>
          </a:xfrm>
          <a:prstGeom prst="rect">
            <a:avLst/>
          </a:prstGeom>
          <a:solidFill>
            <a:srgbClr val="2667FF"/>
          </a:solidFill>
          <a:ln w="12700">
            <a:solidFill>
              <a:srgbClr val="2667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600" y="3703320"/>
            <a:ext cx="2011680" cy="1143000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0" y="2788920"/>
            <a:ext cx="3154680" cy="1207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17320" y="29443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愛知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279392" y="23957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岐阜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504688" y="41330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三重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936992" y="32186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静岡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49808" y="54132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5"/>
                </a:solidFill>
              </a:rPr>
              <a:t>地域密着 / スピード / 職種横断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30352" y="644652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employer page</a:t>
            </a:r>
            <a:endParaRPr lang="en-US" sz="5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1572768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4206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NICHIBI COMPANY PROFILE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66928" y="8778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30352" y="111556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635"/>
                </a:solidFill>
              </a:rPr>
              <a:t>今すぐ困っていることから、構造的な改善まで。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17739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3707A"/>
                </a:solidFill>
              </a:rPr>
              <a:t>人材確保と業務合理化の両面から、現場の継続稼働を支える。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841248" y="2148840"/>
            <a:ext cx="1920240" cy="38404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226771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欠員補充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063240" y="2267712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635"/>
                </a:solidFill>
              </a:rPr>
              <a:t>急な退職・休職時の業務停止を防ぐ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41248" y="2770632"/>
            <a:ext cx="1920240" cy="384048"/>
          </a:xfrm>
          <a:prstGeom prst="rect">
            <a:avLst/>
          </a:prstGeom>
          <a:solidFill>
            <a:srgbClr val="2667FF"/>
          </a:solidFill>
          <a:ln w="12700">
            <a:solidFill>
              <a:srgbClr val="2667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889504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繁忙期対応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063240" y="2889504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635"/>
                </a:solidFill>
              </a:rPr>
              <a:t>短期・短時間で必要人数を確保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41248" y="3392424"/>
            <a:ext cx="1920240" cy="384048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4128" y="3511296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医療事務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063240" y="3511296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635"/>
                </a:solidFill>
              </a:rPr>
              <a:t>受付会計・病棟事務などを支援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41248" y="4014216"/>
            <a:ext cx="1920240" cy="38404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4133088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学校事務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063240" y="4133088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635"/>
                </a:solidFill>
              </a:rPr>
              <a:t>教学・入試・図書司書などに対応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841248" y="4636008"/>
            <a:ext cx="1920240" cy="384048"/>
          </a:xfrm>
          <a:prstGeom prst="rect">
            <a:avLst/>
          </a:prstGeom>
          <a:solidFill>
            <a:srgbClr val="182635"/>
          </a:solidFill>
          <a:ln w="12700">
            <a:solidFill>
              <a:srgbClr val="182635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4128" y="475488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業務委託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063240" y="4754880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635"/>
                </a:solidFill>
              </a:rPr>
              <a:t>受付案内・総務人事・製造管理などを合理化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635240" y="2148840"/>
            <a:ext cx="3246120" cy="2423160"/>
          </a:xfrm>
          <a:prstGeom prst="rect">
            <a:avLst/>
          </a:prstGeom>
          <a:solidFill>
            <a:srgbClr val="182635"/>
          </a:solidFill>
          <a:ln w="12700">
            <a:solidFill>
              <a:srgbClr val="182635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55280" y="24963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提案の焦点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955280" y="2971800"/>
            <a:ext cx="24871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人数を埋めるだけでなく、業務の切り出し方・雇用形態・定着支援まで設計する。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0352" y="644652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employer page / company occupation list</a:t>
            </a:r>
            <a:endParaRPr lang="en-US" sz="5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1572768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4206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NICHIBI COMPANY PROFILE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66928" y="8778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FLOW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30352" y="111556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635"/>
                </a:solidFill>
              </a:rPr>
              <a:t>相談から就業・フォローまで。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17739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3707A"/>
                </a:solidFill>
              </a:rPr>
              <a:t>企業側の求人条件を明確化し、候補者推薦・就業開始・入社後フォローまで伴走。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786384" y="2788920"/>
            <a:ext cx="1572768" cy="157276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29718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9264" y="3547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お問い合わせ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26080" y="2788920"/>
            <a:ext cx="1572768" cy="1572768"/>
          </a:xfrm>
          <a:prstGeom prst="rect">
            <a:avLst/>
          </a:prstGeom>
          <a:solidFill>
            <a:srgbClr val="2667FF"/>
          </a:solidFill>
          <a:ln w="12700">
            <a:solidFill>
              <a:srgbClr val="2667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90672" y="29718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108960" y="3547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求人要件整理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65776" y="2788920"/>
            <a:ext cx="1572768" cy="1572768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0368" y="29718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48656" y="3547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人選・推薦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205472" y="2788920"/>
            <a:ext cx="1572768" cy="157276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70064" y="29718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388352" y="3547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就業・採用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345168" y="2788920"/>
            <a:ext cx="1572768" cy="1572768"/>
          </a:xfrm>
          <a:prstGeom prst="rect">
            <a:avLst/>
          </a:prstGeom>
          <a:solidFill>
            <a:srgbClr val="00A7A0"/>
          </a:solidFill>
          <a:ln w="12700">
            <a:solidFill>
              <a:srgbClr val="00A7A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0" y="29718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528048" y="3547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フォロー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91840" y="5138928"/>
            <a:ext cx="5029200" cy="265176"/>
          </a:xfrm>
          <a:prstGeom prst="rect">
            <a:avLst/>
          </a:prstGeom>
          <a:solidFill>
            <a:srgbClr val="182635"/>
          </a:solidFill>
          <a:ln w="12700">
            <a:solidFill>
              <a:srgbClr val="1826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01568" y="5207508"/>
            <a:ext cx="4809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企業向け問い合わせ  052-265-5553</a:t>
            </a:r>
            <a:endParaRPr lang="en-US" sz="690" dirty="0"/>
          </a:p>
        </p:txBody>
      </p:sp>
      <p:sp>
        <p:nvSpPr>
          <p:cNvPr id="24" name="Text 21"/>
          <p:cNvSpPr/>
          <p:nvPr/>
        </p:nvSpPr>
        <p:spPr>
          <a:xfrm>
            <a:off x="530352" y="644652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employer contact / employer page</a:t>
            </a:r>
            <a:endParaRPr lang="en-US" sz="5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84048"/>
            <a:ext cx="1572768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81160" y="4206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DCE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NICHIBI COMPANY PROFILE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58368" y="1078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日美株式会社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94944" y="178308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人材の総合コーディネーターとして、企業経営の合理化をサポートします。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49808" y="274320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A65"/>
                </a:solidFill>
              </a:rPr>
              <a:t>代表者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1783080" y="2743200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代表取締役社長 長谷川裕一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9808" y="315468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667FF"/>
                </a:solidFill>
              </a:rPr>
              <a:t>所在地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1783080" y="3154680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名古屋市中区錦一丁目5番13号 オリックス名古屋錦ビル9階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9808" y="356616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26D5B"/>
                </a:solidFill>
              </a:rPr>
              <a:t>設立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1783080" y="3566160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昭和59年5月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9808" y="397764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9F1C"/>
                </a:solidFill>
              </a:rPr>
              <a:t>資本金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783080" y="3977640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5,000万円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9808" y="438912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7A0"/>
                </a:solidFill>
              </a:rPr>
              <a:t>許可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1783080" y="4389120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派23-020031 / 23-ユ-020188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9808" y="480060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23B75"/>
                </a:solidFill>
              </a:rPr>
              <a:t>URL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1783080" y="4800600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https://nichibi-web.co.jp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7452360" y="0"/>
            <a:ext cx="914400" cy="6858000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66760" y="0"/>
            <a:ext cx="914400" cy="6858000"/>
          </a:xfrm>
          <a:prstGeom prst="rect">
            <a:avLst/>
          </a:prstGeom>
          <a:solidFill>
            <a:srgbClr val="2667FF"/>
          </a:solidFill>
          <a:ln w="12700">
            <a:solidFill>
              <a:srgbClr val="2667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281160" y="0"/>
            <a:ext cx="914400" cy="6858000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195560" y="0"/>
            <a:ext cx="914400" cy="68580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109960" y="0"/>
            <a:ext cx="1078992" cy="6858000"/>
          </a:xfrm>
          <a:prstGeom prst="rect">
            <a:avLst/>
          </a:prstGeom>
          <a:solidFill>
            <a:srgbClr val="00A7A0"/>
          </a:solidFill>
          <a:ln w="12700">
            <a:solidFill>
              <a:srgbClr val="00A7A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" y="644652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63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company overview</a:t>
            </a:r>
            <a:endParaRPr lang="en-US" sz="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YNFactory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日美株式会社 会社説明資料</dc:title>
  <dc:subject>日美株式会社 会社説明資料 stylish version</dc:subject>
  <dc:creator>YNFactory</dc:creator>
  <cp:lastModifiedBy>YNFactory</cp:lastModifiedBy>
  <cp:revision>1</cp:revision>
  <dcterms:created xsi:type="dcterms:W3CDTF">2026-05-19T08:38:17Z</dcterms:created>
  <dcterms:modified xsi:type="dcterms:W3CDTF">2026-05-19T08:38:17Z</dcterms:modified>
</cp:coreProperties>
</file>