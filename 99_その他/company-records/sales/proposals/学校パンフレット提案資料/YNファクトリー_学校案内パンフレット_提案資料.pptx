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18歳人口(万人)</c:v>
                </c:pt>
              </c:strCache>
            </c:strRef>
          </c:tx>
          <c:spPr>
            <a:solidFill>
              <a:srgbClr val="3D5A99"/>
            </a:solidFill>
            <a:ln w="38100" cap="flat">
              <a:solidFill>
                <a:srgbClr val="3D5A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8"/>
                    </a:solidFill>
                    <a:latin typeface="Hiragino Kaku Gothic ProN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D5A99"/>
              </a:solidFill>
              <a:ln w="9525" cap="flat">
                <a:solidFill>
                  <a:srgbClr val="3D5A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2005</c:v>
                  </c:pt>
                  <c:pt idx="1">
                    <c:v>2024</c:v>
                  </c:pt>
                  <c:pt idx="2">
                    <c:v>2040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137</c:v>
                </c:pt>
                <c:pt idx="1">
                  <c:v>110</c:v>
                </c:pt>
                <c:pt idx="2">
                  <c:v>82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238"/>
                  </a:solidFill>
                  <a:latin typeface="Hiragino Kaku Gothic ProN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88"/>
                </a:solidFill>
                <a:latin typeface="Hiragino Kaku Gothic Pro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6350" cap="flat">
              <a:solidFill>
                <a:srgbClr val="EDF1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88"/>
                </a:solidFill>
                <a:latin typeface="Hiragino Kaku Gothic Pro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554480"/>
            <a:ext cx="4754880" cy="475488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2377440"/>
            <a:ext cx="3291840" cy="3291840"/>
          </a:xfrm>
          <a:prstGeom prst="ellipse">
            <a:avLst/>
          </a:prstGeom>
          <a:solidFill>
            <a:srgbClr val="3D5A99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89720" y="4297680"/>
            <a:ext cx="1371600" cy="13716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4663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学校・入学広報ご担当者さまへ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学校案内パンフレット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制作プロデュース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ストーリーで、選ばれる学校に。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5074920"/>
            <a:ext cx="4206240" cy="0"/>
          </a:xfrm>
          <a:prstGeom prst="line">
            <a:avLst/>
          </a:prstGeom>
          <a:noFill/>
          <a:ln w="19050">
            <a:solidFill>
              <a:srgbClr val="5B7DB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212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30ページの学校案内を、企画から一貫プロデュース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 × ストーリーで「読まれる・伝わる・動かす」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いま、すべての学校が直面する課題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18歳人口は減り続けています。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定員充足は、学校種を問わず共通の経営課題に。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481328" cy="16002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063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2005年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7DB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137</a:t>
            </a:r>
            <a:pPr algn="ctr"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万人</a:t>
            </a:r>
            <a:endParaRPr lang="en-US" sz="3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984" y="3611880"/>
            <a:ext cx="292608" cy="2926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450592" y="2926080"/>
            <a:ext cx="1481328" cy="16002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450592" y="3063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2024年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450592" y="342900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D5A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110</a:t>
            </a:r>
            <a:pPr algn="ctr"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万人</a:t>
            </a:r>
            <a:endParaRPr lang="en-US" sz="3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96" y="3611880"/>
            <a:ext cx="292608" cy="2926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261104" y="2926080"/>
            <a:ext cx="1481328" cy="16002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261104" y="3063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2040年(推計)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261104" y="342900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655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82</a:t>
            </a:r>
            <a:pPr algn="ctr"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万人</a:t>
            </a:r>
            <a:endParaRPr lang="en-US" sz="3800" dirty="0"/>
          </a:p>
        </p:txBody>
      </p:sp>
      <p:sp>
        <p:nvSpPr>
          <p:cNvPr id="17" name="Text 13"/>
          <p:cNvSpPr/>
          <p:nvPr/>
        </p:nvSpPr>
        <p:spPr>
          <a:xfrm>
            <a:off x="640080" y="4709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出典：文部科学省／国立社会保障・人口問題研究所「日本の将来推計人口」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766560" y="1554480"/>
            <a:ext cx="47548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040880" y="1737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18歳人口の推移と予測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858000" y="214884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Shape 16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ISSUES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入試課・入学広報、3つのお悩み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456432" cy="38404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37360"/>
            <a:ext cx="3456432" cy="128016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7" name="Shape 5"/>
          <p:cNvSpPr/>
          <p:nvPr/>
        </p:nvSpPr>
        <p:spPr>
          <a:xfrm>
            <a:off x="1865376" y="2148840"/>
            <a:ext cx="1005840" cy="1005840"/>
          </a:xfrm>
          <a:prstGeom prst="ellipse">
            <a:avLst/>
          </a:prstGeom>
          <a:solidFill>
            <a:srgbClr val="3D5A99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6661" y="2370125"/>
            <a:ext cx="563270" cy="5632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33756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学校の魅力が伝わらない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32688" y="3977640"/>
            <a:ext cx="287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教育の質には自信があるのに、パンフレットはその場でパラパラ見られて終わる。理念や実績が伝わりきらない。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25696" y="1737360"/>
            <a:ext cx="3456432" cy="38404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25696" y="1737360"/>
            <a:ext cx="3456432" cy="128016"/>
          </a:xfrm>
          <a:prstGeom prst="rect">
            <a:avLst/>
          </a:prstGeom>
          <a:solidFill>
            <a:srgbClr val="1FA899"/>
          </a:solidFill>
          <a:ln/>
        </p:spPr>
      </p:sp>
      <p:sp>
        <p:nvSpPr>
          <p:cNvPr id="13" name="Shape 10"/>
          <p:cNvSpPr/>
          <p:nvPr/>
        </p:nvSpPr>
        <p:spPr>
          <a:xfrm>
            <a:off x="5650992" y="2148840"/>
            <a:ext cx="1005840" cy="1005840"/>
          </a:xfrm>
          <a:prstGeom prst="ellipse">
            <a:avLst/>
          </a:prstGeom>
          <a:solidFill>
            <a:srgbClr val="1FA899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277" y="2370125"/>
            <a:ext cx="563270" cy="56327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54296" y="333756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説明会で動員できない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718304" y="3977640"/>
            <a:ext cx="287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案内物を毎年作っても来場が増えない。進学相談会で他校と並ぶと、手に取られず素通りされてしまう。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11312" y="1737360"/>
            <a:ext cx="3456432" cy="38404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11312" y="1737360"/>
            <a:ext cx="3456432" cy="128016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9" name="Shape 15"/>
          <p:cNvSpPr/>
          <p:nvPr/>
        </p:nvSpPr>
        <p:spPr>
          <a:xfrm>
            <a:off x="9436608" y="2148840"/>
            <a:ext cx="1005840" cy="1005840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893" y="2370125"/>
            <a:ext cx="563270" cy="56327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39912" y="333756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紙パンフのコスト・更新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503920" y="3977640"/>
            <a:ext cx="287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制作費は毎年100万円以上、納期は数カ月。少し直すたびに全面改訂で、古い内容を配り続けるしかない。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371600"/>
            <a:ext cx="3657600" cy="3657600"/>
          </a:xfrm>
          <a:prstGeom prst="ellipse">
            <a:avLst/>
          </a:prstGeom>
          <a:solidFill>
            <a:srgbClr val="3D5A9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YNファクトリーが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提供するもの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869680" y="2468880"/>
            <a:ext cx="1371600" cy="1371600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8290" y="2777490"/>
            <a:ext cx="754380" cy="7543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2062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30ページの学校案内パンフレット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企画から制作まで一貫プロデュース。マンガ×ストーリーで“伝わる”一冊に。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30ページに何を載せるか（構成例）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0" cy="566928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7465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表紙・学校紹介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00200" y="198424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キャッチコピー・学校全体のメッセージ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423160"/>
            <a:ext cx="822960" cy="566928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231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4780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教育方針・理念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600200" y="271576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建学の精神、大切にしている価値観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154680"/>
            <a:ext cx="822960" cy="566928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546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8P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32095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コース・学科紹介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600200" y="344728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各コースの特色、カリキュラム概要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886200"/>
            <a:ext cx="822960" cy="566928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862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39410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在校生・卒業生の声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600200" y="417880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ストーリーマンガで共感を醸成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169164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1691640"/>
            <a:ext cx="822960" cy="566928"/>
          </a:xfrm>
          <a:prstGeom prst="rect">
            <a:avLst/>
          </a:prstGeom>
          <a:solidFill>
            <a:srgbClr val="1FA89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6916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60920" y="17465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進路・実績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60920" y="198424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進学・就職・資格取得の実績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0" y="24231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2423160"/>
            <a:ext cx="822960" cy="566928"/>
          </a:xfrm>
          <a:prstGeom prst="rect">
            <a:avLst/>
          </a:prstGeom>
          <a:solidFill>
            <a:srgbClr val="1FA899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24231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60920" y="24780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教員紹介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360920" y="271576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先生のメッセージ・人柄（写真＋文章）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315468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0" y="3154680"/>
            <a:ext cx="822960" cy="566928"/>
          </a:xfrm>
          <a:prstGeom prst="rect">
            <a:avLst/>
          </a:prstGeom>
          <a:solidFill>
            <a:srgbClr val="1FA899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31546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2P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60920" y="32095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学校生活・施設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360920" y="344728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行事・クラブ・設備のビジュアル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0" y="388620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0800" y="3886200"/>
            <a:ext cx="822960" cy="566928"/>
          </a:xfrm>
          <a:prstGeom prst="rect">
            <a:avLst/>
          </a:prstGeom>
          <a:solidFill>
            <a:srgbClr val="1FA899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38862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2P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60920" y="39410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アクセス・Q&amp;A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360920" y="417880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地図・入試情報・よくある質問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008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※ 上記は標準的な構成例です。学校の特色・ターゲットに応じて企画段階でカスタマイズします。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WHY MANGA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なぜ “マンガ” なのか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受験生は </a:t>
            </a:r>
            <a:pPr indent="0" marL="0">
              <a:buNone/>
            </a:pPr>
            <a:r>
              <a:rPr lang="en-US" sz="1500" b="1" dirty="0">
                <a:solidFill>
                  <a:srgbClr val="C8821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「感情」</a:t>
            </a:r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で動き、保護者は </a:t>
            </a:r>
            <a:pPr indent="0" marL="0">
              <a:buNone/>
            </a:pPr>
            <a:r>
              <a:rPr lang="en-US" sz="15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「安心」</a:t>
            </a:r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で後押しする。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8523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468880"/>
            <a:ext cx="1005840" cy="1005840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405" y="2690165"/>
            <a:ext cx="563270" cy="5632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94560" y="2542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受験生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194560" y="28895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821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「ここに通いたい」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05840" y="345643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学校生活のリアルな楽しさを“自分ごと”として想像できる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36792" y="2148840"/>
            <a:ext cx="528523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56832" y="2468880"/>
            <a:ext cx="1005840" cy="1005840"/>
          </a:xfrm>
          <a:prstGeom prst="ellipse">
            <a:avLst/>
          </a:prstGeom>
          <a:solidFill>
            <a:srgbClr val="1FA899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117" y="2690165"/>
            <a:ext cx="563270" cy="56327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91272" y="2542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保護者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891272" y="28895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「ここなら未来がある」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702552" y="345643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進路・将来像が見えることで、安心して背中を押せる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4617720"/>
            <a:ext cx="10911535" cy="1325880"/>
          </a:xfrm>
          <a:prstGeom prst="roundRect">
            <a:avLst>
              <a:gd name="adj" fmla="val 8276"/>
            </a:avLst>
          </a:prstGeom>
          <a:solidFill>
            <a:srgbClr val="1E276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0292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4937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マンガは「感情・ストーリー」に最も効くメディア。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だから題材を“一番響くテーマ”に絞り込み、費用対効果を最大化します。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EDITORIAL FOCUS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マンガは “一番響くテーマ” に集中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6809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78308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1764792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在校生のリアルな学校生活  </a:t>
            </a:r>
            <a:pPr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日常・部活・行事の楽しさ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1031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821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受験生「通いたい」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76809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2770632"/>
            <a:ext cx="566928" cy="566928"/>
          </a:xfrm>
          <a:prstGeom prst="ellipse">
            <a:avLst/>
          </a:prstGeom>
          <a:solidFill>
            <a:srgbClr val="D9655B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770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2752344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進路・夢の実現／なりたい自分  </a:t>
            </a:r>
            <a:pPr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卒業後の将来像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0906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655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受験生＋保護者「未来がある」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621024"/>
            <a:ext cx="76809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3758184"/>
            <a:ext cx="566928" cy="566928"/>
          </a:xfrm>
          <a:prstGeom prst="ellipse">
            <a:avLst/>
          </a:prstGeom>
          <a:solidFill>
            <a:srgbClr val="1FA899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758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3739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入学後の成長ストーリー  </a:t>
            </a:r>
            <a:pPr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できなかった → できた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407822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受験生・保護者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608576"/>
            <a:ext cx="76809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745736"/>
            <a:ext cx="566928" cy="566928"/>
          </a:xfrm>
          <a:prstGeom prst="ellipse">
            <a:avLst/>
          </a:prstGeom>
          <a:solidFill>
            <a:srgbClr val="3D5A99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745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00200" y="4727448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部活・行事の青春ドラマ  </a:t>
            </a:r>
            <a:pPr indent="0" marL="0">
              <a:buNone/>
            </a:pPr>
            <a:r>
              <a:rPr lang="en-US" sz="10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仲間との絆・感動の瞬間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00200" y="50657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5A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受験生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12480" y="1645920"/>
            <a:ext cx="3108960" cy="402336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920240"/>
            <a:ext cx="548640" cy="5486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641080" y="2606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 × 写真 × 文章の役割分担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641080" y="329184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マンガ：感情ストーリーに集中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写真：施設・授業・部活の雰囲気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文章：コース詳細・実績・募集要項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→ 先生紹介・データはマンガから外し、写真・文章で的確に補完します。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METHOD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選ばれる学校案内をつくる 3STEP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56432" cy="38862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3456432" cy="77724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Core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11096" y="2834640"/>
            <a:ext cx="914400" cy="914400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264" y="3035808"/>
            <a:ext cx="512064" cy="5120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88620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学校ブランディングの確立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32688" y="457200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ヒアリングで強みと差別化軸を言語化。「どんな学校として認識されたいか」を設計します。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25696" y="1783080"/>
            <a:ext cx="3456432" cy="38862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25696" y="1783080"/>
            <a:ext cx="3456432" cy="777240"/>
          </a:xfrm>
          <a:prstGeom prst="rect">
            <a:avLst/>
          </a:prstGeom>
          <a:solidFill>
            <a:srgbClr val="1FA899"/>
          </a:solidFill>
          <a:ln/>
        </p:spPr>
      </p:sp>
      <p:sp>
        <p:nvSpPr>
          <p:cNvPr id="15" name="Text 12"/>
          <p:cNvSpPr/>
          <p:nvPr/>
        </p:nvSpPr>
        <p:spPr>
          <a:xfrm>
            <a:off x="4700016" y="18745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02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00016" y="212140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Visual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696712" y="2834640"/>
            <a:ext cx="914400" cy="914400"/>
          </a:xfrm>
          <a:prstGeom prst="ellipse">
            <a:avLst/>
          </a:prstGeom>
          <a:solidFill>
            <a:srgbClr val="1FA899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3035808"/>
            <a:ext cx="512064" cy="51206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54296" y="388620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マンガ×ストーリーで訴求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718304" y="457200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学校生活と進路を“読まれるビジュアル”に。感情に届く誌面で他校と差別化します。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211312" y="1783080"/>
            <a:ext cx="3456432" cy="38862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11312" y="1783080"/>
            <a:ext cx="3456432" cy="777240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23" name="Text 19"/>
          <p:cNvSpPr/>
          <p:nvPr/>
        </p:nvSpPr>
        <p:spPr>
          <a:xfrm>
            <a:off x="8485632" y="18745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03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485632" y="212140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Extension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9482328" y="2834640"/>
            <a:ext cx="914400" cy="914400"/>
          </a:xfrm>
          <a:prstGeom prst="ellipse">
            <a:avLst/>
          </a:prstGeom>
          <a:solidFill>
            <a:srgbClr val="3D5A99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496" y="3035808"/>
            <a:ext cx="512064" cy="51206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39912" y="388620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Web・SNS動線の統合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8503920" y="457200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QRで申込ページ・LINE・SNSへ誘導。「見た→その場で申し込む」流れをつくります。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VALUE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従来の紙パンフ制作と比べて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38328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従来の紙パンフ制作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897880" y="1783080"/>
            <a:ext cx="251460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897880" y="17830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7772400" cy="713232"/>
          </a:xfrm>
          <a:prstGeom prst="rect">
            <a:avLst/>
          </a:prstGeom>
          <a:solidFill>
            <a:srgbClr val="F6F9F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688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制作費の目安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0" y="24688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100万〜300万円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97880" y="24688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15万円〜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18211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制作期間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83280" y="31821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3〜6カ月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3182112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約1カ月〜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95344"/>
            <a:ext cx="7772400" cy="713232"/>
          </a:xfrm>
          <a:prstGeom prst="rect">
            <a:avLst/>
          </a:prstGeom>
          <a:solidFill>
            <a:srgbClr val="F6F9F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9534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内容の更新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83280" y="389534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全面改訂が必要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97880" y="3895344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データ修正で対応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60857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在庫リスク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83280" y="460857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印刷部数の廃棄リスク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97880" y="460857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データ納品でリスクなし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321808"/>
            <a:ext cx="7772400" cy="713232"/>
          </a:xfrm>
          <a:prstGeom prst="rect">
            <a:avLst/>
          </a:prstGeom>
          <a:solidFill>
            <a:srgbClr val="F6F9F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32180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ビジュアル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83280" y="532180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写真中心が一般的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97880" y="532180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マンガ×ストーリーで差別化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49640" y="1828800"/>
            <a:ext cx="2971800" cy="3886200"/>
          </a:xfrm>
          <a:prstGeom prst="roundRect">
            <a:avLst>
              <a:gd name="adj" fmla="val 3692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49640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最大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49640" y="26974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1/10</a:t>
            </a:r>
            <a:endParaRPr lang="en-US" sz="6600" dirty="0"/>
          </a:p>
        </p:txBody>
      </p:sp>
      <p:sp>
        <p:nvSpPr>
          <p:cNvPr id="29" name="Text 27"/>
          <p:cNvSpPr/>
          <p:nvPr/>
        </p:nvSpPr>
        <p:spPr>
          <a:xfrm>
            <a:off x="8549640" y="3840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以下のコスト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32520" y="4526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「読まれる・伝わる・動かす」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パンフレットを実現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制作の流れ（約1カ月〜）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A8C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130552" y="2286000"/>
            <a:ext cx="777240" cy="777240"/>
          </a:xfrm>
          <a:prstGeom prst="ellipse">
            <a:avLst/>
          </a:prstGeom>
          <a:solidFill>
            <a:srgbClr val="3D5A99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1545" y="2456993"/>
            <a:ext cx="435254" cy="43525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324612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ヒアリング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703320"/>
            <a:ext cx="2039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目的・強み・ターゲット・活用用途を確認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429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93008" y="210312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721608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A8C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4983480" y="2286000"/>
            <a:ext cx="777240" cy="777240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473" y="2456993"/>
            <a:ext cx="435254" cy="4352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49040" y="324612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企画・提案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767328" y="3703320"/>
            <a:ext cx="2039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訴求軸・誌面構成・スケジュールをご提案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3429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45936" y="210312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574536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A8C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Shape 15"/>
          <p:cNvSpPr/>
          <p:nvPr/>
        </p:nvSpPr>
        <p:spPr>
          <a:xfrm>
            <a:off x="7836408" y="2286000"/>
            <a:ext cx="777240" cy="777240"/>
          </a:xfrm>
          <a:prstGeom prst="ellipse">
            <a:avLst/>
          </a:prstGeom>
          <a:solidFill>
            <a:srgbClr val="1FA899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7401" y="2456993"/>
            <a:ext cx="435254" cy="43525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01968" y="324612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制作・進行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620256" y="3703320"/>
            <a:ext cx="2039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ライティング・デザイン・マンガを並行制作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3429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198864" y="210312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27" name="Text 19"/>
          <p:cNvSpPr/>
          <p:nvPr/>
        </p:nvSpPr>
        <p:spPr>
          <a:xfrm>
            <a:off x="9427464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A8C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04</a:t>
            </a:r>
            <a:endParaRPr lang="en-US" sz="3000" dirty="0"/>
          </a:p>
        </p:txBody>
      </p:sp>
      <p:sp>
        <p:nvSpPr>
          <p:cNvPr id="28" name="Shape 20"/>
          <p:cNvSpPr/>
          <p:nvPr/>
        </p:nvSpPr>
        <p:spPr>
          <a:xfrm>
            <a:off x="10689336" y="228600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0329" y="2456993"/>
            <a:ext cx="435254" cy="43525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54896" y="324612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継続支援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9473184" y="3703320"/>
            <a:ext cx="2039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納品後も更新・追加・SNS活用を支援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40080" y="544068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E2F4F1"/>
          </a:solidFill>
          <a:ln/>
        </p:spPr>
      </p:sp>
      <p:sp>
        <p:nvSpPr>
          <p:cNvPr id="33" name="Text 24"/>
          <p:cNvSpPr/>
          <p:nvPr/>
        </p:nvSpPr>
        <p:spPr>
          <a:xfrm>
            <a:off x="640080" y="54406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制作過程では定期的に進捗をご報告。基本3回まで修正対応（プランにより5回）。安心して進められます。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474720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3D5A9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PRICING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料金プラン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マンガのボリュームで選べる、4つの商品。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0" y="2286000"/>
            <a:ext cx="1371600" cy="1371600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0" y="26289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MENU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サービスメニュー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18872" cy="365760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A. 学校案内パンフレット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048256"/>
            <a:ext cx="10911535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48256"/>
            <a:ext cx="118872" cy="786384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48256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標準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0" y="2048256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学校案内30P ＋ マンガ4P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42655" y="2048256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3D5A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250,000</a:t>
            </a:r>
            <a:pPr algn="r"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円(税別)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10911535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944368"/>
            <a:ext cx="118872" cy="786384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944368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フルスペック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2944368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学校案内30P ＋ マンガ10P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42655" y="2944368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3D5A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400,000</a:t>
            </a:r>
            <a:pPr algn="r"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円(税別)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40080" y="3986784"/>
            <a:ext cx="118872" cy="365760"/>
          </a:xfrm>
          <a:prstGeom prst="rect">
            <a:avLst/>
          </a:prstGeom>
          <a:solidFill>
            <a:srgbClr val="1FA899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98678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B. マンガ単体制作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911535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480560"/>
            <a:ext cx="118872" cy="786384"/>
          </a:xfrm>
          <a:prstGeom prst="rect">
            <a:avLst/>
          </a:prstGeom>
          <a:solidFill>
            <a:srgbClr val="1FA89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48056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マンガ4P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40480" y="4480560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マンガ4P（電子データ納品）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42655" y="448056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70,000</a:t>
            </a:r>
            <a:pPr algn="r"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円(税別)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640080" y="5376672"/>
            <a:ext cx="10911535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5376672"/>
            <a:ext cx="118872" cy="786384"/>
          </a:xfrm>
          <a:prstGeom prst="rect">
            <a:avLst/>
          </a:prstGeom>
          <a:solidFill>
            <a:srgbClr val="1FA899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5376672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マンガ10P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40480" y="5376672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マンガ10P（電子データ納品）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42655" y="5376672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120,000</a:t>
            </a:r>
            <a:pPr algn="r"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円(税別)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PLAN 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A. 学校案内パンフレット（2プラン）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85232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5285232" cy="1051560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37944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標準 / STANDARD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2103120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250,000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円(税別)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2862072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標準 ｜ 主力・最多選択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50976" y="3291840"/>
            <a:ext cx="47365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学校案内 30P ＋ マンガ4P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本文ライティング込み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カスタムデザイン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QR＋SNS/LP連携提案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修正3回／紙印刷 +5万円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5349240"/>
            <a:ext cx="4736592" cy="566928"/>
          </a:xfrm>
          <a:prstGeom prst="roundRect">
            <a:avLst>
              <a:gd name="adj" fmla="val 9677"/>
            </a:avLst>
          </a:prstGeom>
          <a:solidFill>
            <a:srgbClr val="E2F4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5349240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題材例：入学→学校生活→進路実現を1本に凝縮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5285232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691640"/>
            <a:ext cx="5285232" cy="1051560"/>
          </a:xfrm>
          <a:prstGeom prst="rect">
            <a:avLst/>
          </a:prstGeom>
          <a:solidFill>
            <a:srgbClr val="1FA899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837944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フルスペック / FULL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65392" y="2103120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400,000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円(税別)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83680" y="2862072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フルスペック ｜ フラッグシップ・アンカー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0256" y="3291840"/>
            <a:ext cx="47365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学校案内 30P ＋ マンガ10P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取材・原稿起こし込み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フルカスタムデザイン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修正5回／紙印刷 +6万円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法人案内兼用にも対応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5349240"/>
            <a:ext cx="4736592" cy="566928"/>
          </a:xfrm>
          <a:prstGeom prst="roundRect">
            <a:avLst>
              <a:gd name="adj" fmla="val 9677"/>
            </a:avLst>
          </a:prstGeom>
          <a:solidFill>
            <a:srgbClr val="E2F4F1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5349240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題材例：①学校生活 ②進路サクセス ③成長/青春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PLAN 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B. マンガ単体制作（2種）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既存パンフへの差し込み・Web/SNS掲載・説明会配布に。マンガだけを部分発注できます。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85232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74520"/>
            <a:ext cx="5285232" cy="105156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20824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マンガ4P単体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2286000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70,000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円(税別)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3044952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マンガ4P ｜ 最小単位のお試し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50976" y="3474720"/>
            <a:ext cx="47365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最も響くテーマに集中（4P）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企画・ネーム・シナリオ込み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PDF／PNG納品（Web・印刷対応）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修正2回まで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5257800"/>
            <a:ext cx="4736592" cy="566928"/>
          </a:xfrm>
          <a:prstGeom prst="roundRect">
            <a:avLst>
              <a:gd name="adj" fmla="val 9677"/>
            </a:avLst>
          </a:prstGeom>
          <a:solidFill>
            <a:srgbClr val="EEF3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257800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市場相場 12〜20万円 → 7万円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874520"/>
            <a:ext cx="5285232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874520"/>
            <a:ext cx="5285232" cy="1051560"/>
          </a:xfrm>
          <a:prstGeom prst="rect">
            <a:avLst/>
          </a:prstGeom>
          <a:solidFill>
            <a:srgbClr val="1FA899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020824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マンガ10P単体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65392" y="2286000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120,000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円(税別)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83680" y="3044952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マンガ10P ｜ 差し込みに最適なボリューム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0256" y="3474720"/>
            <a:ext cx="47365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2〜3エピソードを展開（10P）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単独の“マンガ版学校紹介”にも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PDF／PNG納品（Web・印刷対応）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修正2回まで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5257800"/>
            <a:ext cx="4736592" cy="566928"/>
          </a:xfrm>
          <a:prstGeom prst="roundRect">
            <a:avLst>
              <a:gd name="adj" fmla="val 9677"/>
            </a:avLst>
          </a:prstGeom>
          <a:solidFill>
            <a:srgbClr val="E2F4F1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5257800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市場相場 25〜40万円 → 12万円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OPTION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紙印刷オプション（KDP POD方式）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学校は説明会・OC・郵送で紙の需要が高いため、印刷用データ制作をご用意（Aプラン向け）。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5643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初期印刷費 ゼロ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32688" y="27889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版を持たず、刷るたびのコストだけ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25696" y="1965960"/>
            <a:ext cx="345643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240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94376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在庫リスク ゼロ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18304" y="27889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必要部数を都度発注、廃棄なし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11312" y="1965960"/>
            <a:ext cx="345643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2402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79992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1部から発注可能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503920" y="27889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年度更新にも柔軟に対応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0080" y="374904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6F9FE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91440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オプション価格（税別）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960120" y="4297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標準プラン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フルスペック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291840" y="42976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+50,000円 (セット30万)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+60,000円 (セット46万)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309360" y="3749040"/>
            <a:ext cx="5285232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583680" y="3931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従来の紙パンフ印刷は…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583680" y="4343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1,000部発注で 100万〜300万円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（制作費込み・在庫を抱える）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583680" y="5074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KDP POD なら「1部から・在庫ゼロ」で紙化できます。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WHY AFFORDABLE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なぜ、この価格で実現できるのか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学校パンフ30P相当の制作費（市場相場）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6583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4884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広告制作会社（中規模）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63440" y="21488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100万〜300万円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90088"/>
            <a:ext cx="6583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99008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印刷会社の企画制作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63440" y="299008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80万〜200万円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31336"/>
            <a:ext cx="6583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83133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フリーランスへ個別発注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63440" y="383133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60万〜120万円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718304"/>
            <a:ext cx="658368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7183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471830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15万〜40万円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092440" y="214884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E2F4F1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66760" y="2423160"/>
            <a:ext cx="868680" cy="868680"/>
          </a:xfrm>
          <a:prstGeom prst="ellipse">
            <a:avLst/>
          </a:prstGeom>
          <a:solidFill>
            <a:srgbClr val="1FA899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7870" y="2614270"/>
            <a:ext cx="486461" cy="48646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321040" y="3429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一貫内製化による効率化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321040" y="41148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企画・制作・プロデュースを社内で一貫対応。外注費をかけずに、市場相場の半額以下を実現しています。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GROWTH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小さく始めて、育てる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マンガ単体の“お試し”から、翌期に学校案内パンフ一式へ。自然なステップアップが可能です。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2A93B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マンガ4P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7万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円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743200"/>
            <a:ext cx="310896" cy="31089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11880" y="22402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5B7DB1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1188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マンガ10P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1188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12万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円</a:t>
            </a:r>
            <a:endParaRPr lang="en-US" sz="2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743200"/>
            <a:ext cx="310896" cy="31089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46520" y="22402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3D5A99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4652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標準パンフ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4652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25万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円</a:t>
            </a:r>
            <a:endParaRPr lang="en-US" sz="2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743200"/>
            <a:ext cx="310896" cy="31089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281160" y="22402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1FA899"/>
          </a:solidFill>
          <a:ln/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928116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フルスペック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28116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40万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円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40080" y="3886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→ さらにブランディングを深めるなら「電子書籍出版プロデュース」へ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4526280"/>
            <a:ext cx="10911535" cy="1325880"/>
          </a:xfrm>
          <a:prstGeom prst="roundRect">
            <a:avLst>
              <a:gd name="adj" fmla="val 8276"/>
            </a:avLst>
          </a:prstGeom>
          <a:solidFill>
            <a:srgbClr val="F6F9FE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3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6012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サービスの棲み分け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96012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本サービス（学校案内パンフ・マンガ単体）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 7万〜40万円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電子書籍出版プロデュース（文章8〜10万字＋マンガ100P以上）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3D5A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 38万〜80万円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108960"/>
            <a:ext cx="2377440" cy="23774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38862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CONTACT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まずは無料ヒアリングから。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743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貴校の強みを、受験生・保護者に“伝わる一冊”へ。お気軽にご相談ください。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520440"/>
            <a:ext cx="6858000" cy="0"/>
          </a:xfrm>
          <a:prstGeom prst="line">
            <a:avLst/>
          </a:prstGeom>
          <a:noFill/>
          <a:ln w="12700">
            <a:solidFill>
              <a:srgbClr val="5B7DB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679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84048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YNファクトリー（代表：中田 雄一）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16552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43891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〒460-0008　名古屋市中区栄二丁目2番1号 名古屋広小路伏見中駅ビル5階31号室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96519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49377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info@ynfactory.online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513832"/>
            <a:ext cx="310896" cy="3108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7280" y="54864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公式サイトのお問い合わせフォームより承ります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640080" y="617220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8" name="Text 11"/>
          <p:cNvSpPr/>
          <p:nvPr/>
        </p:nvSpPr>
        <p:spPr>
          <a:xfrm>
            <a:off x="640080" y="6172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初回ヒアリングは無料です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学校案内パンフレット制作プロデュース</dc:title>
  <dc:subject>PptxGenJS Presentation</dc:subject>
  <dc:creator>YNファクトリー</dc:creator>
  <cp:lastModifiedBy>YNファクトリー</cp:lastModifiedBy>
  <cp:revision>1</cp:revision>
  <dcterms:created xsi:type="dcterms:W3CDTF">2026-06-01T01:48:34Z</dcterms:created>
  <dcterms:modified xsi:type="dcterms:W3CDTF">2026-06-01T01:48:34Z</dcterms:modified>
</cp:coreProperties>
</file>