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18歳人口(万人)</c:v>
                </c:pt>
              </c:strCache>
            </c:strRef>
          </c:tx>
          <c:spPr>
            <a:ln w="38100" cap="flat">
              <a:solidFill>
                <a:srgbClr val="3D5A99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3D5A99"/>
              </a:solidFill>
              <a:ln w="9525" cap="flat">
                <a:solidFill>
                  <a:srgbClr val="3D5A99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2238"/>
                    </a:solidFill>
                    <a:latin typeface="Hiragino Kaku Gothic ProN"/>
                  </a:defRPr>
                </a:pPr>
                <a:endParaRPr lang="ja-JP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2005</c:v>
                </c:pt>
                <c:pt idx="1">
                  <c:v>2024</c:v>
                </c:pt>
                <c:pt idx="2">
                  <c:v>2040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137</c:v>
                </c:pt>
                <c:pt idx="1">
                  <c:v>110</c:v>
                </c:pt>
                <c:pt idx="2">
                  <c:v>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505-43D4-95A5-9582E892169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488"/>
                </a:solidFill>
                <a:latin typeface="Hiragino Kaku Gothic Pro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  <c:min val="0"/>
        </c:scaling>
        <c:delete val="0"/>
        <c:axPos val="l"/>
        <c:majorGridlines>
          <c:spPr>
            <a:ln w="6350" cap="flat">
              <a:solidFill>
                <a:srgbClr val="EDF1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488"/>
                </a:solidFill>
                <a:latin typeface="Hiragino Kaku Gothic Pro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651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554480"/>
            <a:ext cx="4754880" cy="4754880"/>
          </a:xfrm>
          <a:prstGeom prst="ellipse">
            <a:avLst/>
          </a:prstGeom>
          <a:solidFill>
            <a:srgbClr val="2730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0241280" y="2377440"/>
            <a:ext cx="3291840" cy="3291840"/>
          </a:xfrm>
          <a:prstGeom prst="ellipse">
            <a:avLst/>
          </a:prstGeom>
          <a:solidFill>
            <a:srgbClr val="3D5A99">
              <a:alpha val="4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9189720" y="4297680"/>
            <a:ext cx="1371600" cy="13716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46634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学校・入学広報ご担当者さまへ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8745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学校案内パンフレット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制作プロデュース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EF3F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ストーリーで、選ばれる学校に。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40080" y="5074920"/>
            <a:ext cx="4206240" cy="0"/>
          </a:xfrm>
          <a:prstGeom prst="line">
            <a:avLst/>
          </a:prstGeom>
          <a:noFill/>
          <a:ln w="19050">
            <a:solidFill>
              <a:srgbClr val="5B7DB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640080" y="5212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EF3F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30ページの学校案内を、企画から一貫プロデュース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EF3F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マンガ × ストーリーで「読まれる・伝わる・動かす」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YNファクトリー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713232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96112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96112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いま、すべての学校が直面する課題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18歳人口は減り続けています。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定員充足は、学校種を問わず共通の経営課題に。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1481328" cy="16002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2005年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5B7DB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137</a:t>
            </a:r>
            <a:r>
              <a:rPr lang="en-US" sz="11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万人</a:t>
            </a:r>
            <a:endParaRPr lang="en-US" sz="3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984" y="3611880"/>
            <a:ext cx="292608" cy="29260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450592" y="2926080"/>
            <a:ext cx="1481328" cy="16002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2450592" y="30632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2024年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450592" y="342900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3D5A9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110</a:t>
            </a:r>
            <a:r>
              <a:rPr lang="en-US" sz="11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万人</a:t>
            </a:r>
            <a:endParaRPr lang="en-US" sz="38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496" y="3611880"/>
            <a:ext cx="292608" cy="29260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261104" y="2926080"/>
            <a:ext cx="1481328" cy="16002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1"/>
          <p:cNvSpPr/>
          <p:nvPr/>
        </p:nvSpPr>
        <p:spPr>
          <a:xfrm>
            <a:off x="4261104" y="30632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2040年(推計)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261104" y="342900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9655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82</a:t>
            </a:r>
            <a:r>
              <a:rPr lang="en-US" sz="11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万人</a:t>
            </a:r>
            <a:endParaRPr lang="en-US" sz="3800" dirty="0"/>
          </a:p>
        </p:txBody>
      </p:sp>
      <p:sp>
        <p:nvSpPr>
          <p:cNvPr id="17" name="Text 13"/>
          <p:cNvSpPr/>
          <p:nvPr/>
        </p:nvSpPr>
        <p:spPr>
          <a:xfrm>
            <a:off x="640080" y="4709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出典：文部科学省／国立社会保障・人口問題研究所「日本の将来推計人口」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766560" y="1554480"/>
            <a:ext cx="47548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5"/>
          <p:cNvSpPr/>
          <p:nvPr/>
        </p:nvSpPr>
        <p:spPr>
          <a:xfrm>
            <a:off x="7040880" y="1737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18歳人口の推移と予測</a:t>
            </a:r>
            <a:endParaRPr lang="en-US" sz="13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6858000" y="2148840"/>
          <a:ext cx="45720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Shape 16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7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YNファクトリー ｜ 学校案内パンフレット制作プロデュース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0297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713232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96112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ISSUES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96112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入試課・入学広報、3つのお悩み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456432" cy="384048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456432" cy="128016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865376" y="2148840"/>
            <a:ext cx="1005840" cy="1005840"/>
          </a:xfrm>
          <a:prstGeom prst="ellipse">
            <a:avLst/>
          </a:prstGeom>
          <a:solidFill>
            <a:srgbClr val="3D5A99"/>
          </a:solidFill>
          <a:ln/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661" y="2370125"/>
            <a:ext cx="563270" cy="56327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333756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学校の魅力が伝わらない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32688" y="3977640"/>
            <a:ext cx="2871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教育の質には自信があるのに、パンフレットはその場でパラパラ見られて終わる。理念や実績が伝わりきらない。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25696" y="1737360"/>
            <a:ext cx="3456432" cy="384048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9"/>
          <p:cNvSpPr/>
          <p:nvPr/>
        </p:nvSpPr>
        <p:spPr>
          <a:xfrm>
            <a:off x="4425696" y="1737360"/>
            <a:ext cx="3456432" cy="128016"/>
          </a:xfrm>
          <a:prstGeom prst="rect">
            <a:avLst/>
          </a:prstGeom>
          <a:solidFill>
            <a:srgbClr val="1FA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0"/>
          <p:cNvSpPr/>
          <p:nvPr/>
        </p:nvSpPr>
        <p:spPr>
          <a:xfrm>
            <a:off x="5650992" y="2148840"/>
            <a:ext cx="1005840" cy="1005840"/>
          </a:xfrm>
          <a:prstGeom prst="ellipse">
            <a:avLst/>
          </a:prstGeom>
          <a:solidFill>
            <a:srgbClr val="1FA899"/>
          </a:solidFill>
          <a:ln/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2277" y="2370125"/>
            <a:ext cx="563270" cy="56327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54296" y="333756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説明会で動員できない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718304" y="3977640"/>
            <a:ext cx="2871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案内物を毎年作っても来場が増えない。進学相談会で他校と並ぶと、手に取られず素通りされてしまう。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211312" y="1737360"/>
            <a:ext cx="3456432" cy="384048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4"/>
          <p:cNvSpPr/>
          <p:nvPr/>
        </p:nvSpPr>
        <p:spPr>
          <a:xfrm>
            <a:off x="8211312" y="1737360"/>
            <a:ext cx="3456432" cy="128016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5"/>
          <p:cNvSpPr/>
          <p:nvPr/>
        </p:nvSpPr>
        <p:spPr>
          <a:xfrm>
            <a:off x="9436608" y="2148840"/>
            <a:ext cx="1005840" cy="1005840"/>
          </a:xfrm>
          <a:prstGeom prst="ellipse">
            <a:avLst/>
          </a:prstGeom>
          <a:solidFill>
            <a:srgbClr val="F2A93B"/>
          </a:solidFill>
          <a:ln/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7893" y="2370125"/>
            <a:ext cx="563270" cy="56327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39912" y="333756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紙パンフのコスト・更新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503920" y="3977640"/>
            <a:ext cx="2871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制作費は毎年100万円以上、納期は数カ月。少し直すたびに全面改訂で、古い内容を配り続けるしかない。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19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YNファクトリー ｜ 学校案内パンフレット制作プロデュース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00297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023360"/>
            <a:ext cx="4572000" cy="4572000"/>
          </a:xfrm>
          <a:prstGeom prst="ellipse">
            <a:avLst/>
          </a:prstGeom>
          <a:solidFill>
            <a:srgbClr val="2730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0332720" y="-1371600"/>
            <a:ext cx="3657600" cy="3657600"/>
          </a:xfrm>
          <a:prstGeom prst="ellipse">
            <a:avLst/>
          </a:prstGeom>
          <a:solidFill>
            <a:srgbClr val="3D5A99">
              <a:alpha val="4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SOLUTION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YNファクトリーが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提供するもの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869680" y="2468880"/>
            <a:ext cx="1371600" cy="1371600"/>
          </a:xfrm>
          <a:prstGeom prst="ellipse">
            <a:avLst/>
          </a:prstGeom>
          <a:solidFill>
            <a:srgbClr val="F2A93B"/>
          </a:solidFill>
          <a:ln/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290" y="2777490"/>
            <a:ext cx="754380" cy="7543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2062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30ページの学校案内パンフレット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EF3F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企画から制作まで一貫プロデュース。マンガ×ストーリーで“伝わる”一冊に。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713232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96112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DELIVERABLE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96112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30ページに何を載せるか（構成例）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822960" cy="566928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17465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表紙・学校紹介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600200" y="198424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キャッチコピー・学校全体のメッセージ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640080" y="2423160"/>
            <a:ext cx="822960" cy="566928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640080" y="242316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24780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教育方針・理念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600200" y="271576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建学の精神、大切にしている価値観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315468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822960" cy="566928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40080" y="315468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8P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32095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コース・学科紹介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600200" y="344728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各コースの特色、カリキュラム概要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388620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640080" y="3886200"/>
            <a:ext cx="822960" cy="566928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40080" y="388620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39410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在校生・卒業生の声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600200" y="417880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ストーリーマンガで共感を醸成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0" y="169164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6400800" y="1691640"/>
            <a:ext cx="822960" cy="566928"/>
          </a:xfrm>
          <a:prstGeom prst="rect">
            <a:avLst/>
          </a:prstGeom>
          <a:solidFill>
            <a:srgbClr val="1FA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6400800" y="169164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60920" y="17465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進路・実績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360920" y="198424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進学・就職・資格取得の実績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00800" y="242316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6400800" y="2423160"/>
            <a:ext cx="822960" cy="566928"/>
          </a:xfrm>
          <a:prstGeom prst="rect">
            <a:avLst/>
          </a:prstGeom>
          <a:solidFill>
            <a:srgbClr val="1FA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6400800" y="242316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60920" y="24780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教員紹介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360920" y="271576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先生のメッセージ・人柄（写真＋文章）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00800" y="315468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6400800" y="3154680"/>
            <a:ext cx="822960" cy="566928"/>
          </a:xfrm>
          <a:prstGeom prst="rect">
            <a:avLst/>
          </a:prstGeom>
          <a:solidFill>
            <a:srgbClr val="1FA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6400800" y="315468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2P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360920" y="32095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学校生活・施設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360920" y="344728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行事・クラブ・設備のビジュアル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00800" y="388620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6400800" y="3886200"/>
            <a:ext cx="822960" cy="566928"/>
          </a:xfrm>
          <a:prstGeom prst="rect">
            <a:avLst/>
          </a:prstGeom>
          <a:solidFill>
            <a:srgbClr val="1FA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6400800" y="388620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2P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360920" y="39410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アクセス・Q&amp;A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7360920" y="417880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地図・入試情報・よくある質問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4008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※ 上記は標準的な構成例です。学校の特色・ターゲットに応じて企画段階でカスタマイズします。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YNファクトリー ｜ 学校案内パンフレット制作プロデュース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0297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713232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96112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WHY MANGA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96112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なぜ “マンガ” なのか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受験生は </a:t>
            </a:r>
            <a:r>
              <a:rPr lang="en-US" sz="1500" b="1" dirty="0">
                <a:solidFill>
                  <a:srgbClr val="C8821C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「感情」</a:t>
            </a:r>
            <a:r>
              <a:rPr lang="en-US" sz="1500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で動き、保護者は </a:t>
            </a:r>
            <a:r>
              <a:rPr lang="en-US" sz="1500" b="1" dirty="0">
                <a:solidFill>
                  <a:srgbClr val="1FA89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「安心」</a:t>
            </a:r>
            <a:r>
              <a:rPr lang="en-US" sz="1500" dirty="0">
                <a:solidFill>
                  <a:srgbClr val="1A22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で後押しする。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28523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60120" y="2468880"/>
            <a:ext cx="1005840" cy="1005840"/>
          </a:xfrm>
          <a:prstGeom prst="ellipse">
            <a:avLst/>
          </a:prstGeom>
          <a:solidFill>
            <a:srgbClr val="F2A93B"/>
          </a:solidFill>
          <a:ln/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405" y="2690165"/>
            <a:ext cx="563270" cy="56327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94560" y="2542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受験生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194560" y="288950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8821C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「ここに通いたい」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05840" y="345643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学校生活のリアルな楽しさを“自分ごと”として想像できる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36792" y="2148840"/>
            <a:ext cx="528523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0"/>
          <p:cNvSpPr/>
          <p:nvPr/>
        </p:nvSpPr>
        <p:spPr>
          <a:xfrm>
            <a:off x="6656832" y="2468880"/>
            <a:ext cx="1005840" cy="1005840"/>
          </a:xfrm>
          <a:prstGeom prst="ellipse">
            <a:avLst/>
          </a:prstGeom>
          <a:solidFill>
            <a:srgbClr val="1FA899"/>
          </a:solidFill>
          <a:ln/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8117" y="2690165"/>
            <a:ext cx="563270" cy="56327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891272" y="2542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保護者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891272" y="288950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A89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「ここなら未来がある」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702552" y="345643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進路・将来像が見えることで、安心して背中を押せる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40080" y="4617720"/>
            <a:ext cx="10911535" cy="1325880"/>
          </a:xfrm>
          <a:prstGeom prst="roundRect">
            <a:avLst>
              <a:gd name="adj" fmla="val 827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02920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83080" y="49377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マンガは「感情・ストーリー」に最も効くメディア。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EF3F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だから題材を“一番響くテーマ”に絞り込み、費用対効果を最大化します。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7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YNファクトリー ｜ 学校案内パンフレット制作プロデュース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0297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713232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96112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EDITORIAL FOCUS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96112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マンガは “一番響くテーマ” に集中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76809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841248" y="178308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41248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00200" y="1764792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在校生のリアルな学校生活  </a:t>
            </a:r>
            <a:r>
              <a:rPr lang="en-US" sz="10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日常・部活・行事の楽しさ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21031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8821C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受験生「通いたい」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633472"/>
            <a:ext cx="76809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841248" y="2770632"/>
            <a:ext cx="566928" cy="566928"/>
          </a:xfrm>
          <a:prstGeom prst="ellipse">
            <a:avLst/>
          </a:prstGeom>
          <a:solidFill>
            <a:srgbClr val="D9655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841248" y="2770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2752344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進路・夢の実現／なりたい自分  </a:t>
            </a:r>
            <a:r>
              <a:rPr lang="en-US" sz="10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卒業後の将来像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30906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9655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受験生＋保護者「未来がある」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621024"/>
            <a:ext cx="76809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841248" y="3758184"/>
            <a:ext cx="566928" cy="566928"/>
          </a:xfrm>
          <a:prstGeom prst="ellipse">
            <a:avLst/>
          </a:prstGeom>
          <a:solidFill>
            <a:srgbClr val="1FA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41248" y="3758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00200" y="3739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入学後の成長ストーリー  </a:t>
            </a:r>
            <a:r>
              <a:rPr lang="en-US" sz="10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できなかった → できた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0200" y="407822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FA89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受験生・保護者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608576"/>
            <a:ext cx="76809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841248" y="4745736"/>
            <a:ext cx="566928" cy="566928"/>
          </a:xfrm>
          <a:prstGeom prst="ellipse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841248" y="47457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00200" y="4727448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部活・行事の青春ドラマ  </a:t>
            </a:r>
            <a:r>
              <a:rPr lang="en-US" sz="10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仲間との絆・感動の瞬間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00200" y="506577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5A9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受験生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412480" y="1645920"/>
            <a:ext cx="3108960" cy="402336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920240"/>
            <a:ext cx="548640" cy="5486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641080" y="26060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マンガ × 写真 × 文章の役割分担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641080" y="3291840"/>
            <a:ext cx="2697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マンガ：感情ストーリーに集中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EF3F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写真：施設・授業・部活の雰囲気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EF3F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文章：コース詳細・実績・募集要項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EF3F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→ 先生紹介・データはマンガから外し、写真・文章で的確に補完します。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7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YNファクトリー ｜ 学校案内パンフレット制作プロデュース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00297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713232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96112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METHOD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96112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選ばれる学校案内をつくる 3STEP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56432" cy="388620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456432" cy="777240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STEP 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121408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Core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911096" y="2834640"/>
            <a:ext cx="914400" cy="914400"/>
          </a:xfrm>
          <a:prstGeom prst="ellipse">
            <a:avLst/>
          </a:prstGeom>
          <a:solidFill>
            <a:srgbClr val="F2A93B"/>
          </a:solidFill>
          <a:ln/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264" y="3035808"/>
            <a:ext cx="512064" cy="5120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3886200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学校ブランディングの確立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932688" y="457200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ヒアリングで強みと差別化軸を言語化。「どんな学校として認識されたいか」を設計します。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425696" y="1783080"/>
            <a:ext cx="3456432" cy="388620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1"/>
          <p:cNvSpPr/>
          <p:nvPr/>
        </p:nvSpPr>
        <p:spPr>
          <a:xfrm>
            <a:off x="4425696" y="1783080"/>
            <a:ext cx="3456432" cy="777240"/>
          </a:xfrm>
          <a:prstGeom prst="rect">
            <a:avLst/>
          </a:prstGeom>
          <a:solidFill>
            <a:srgbClr val="1FA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4700016" y="187452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STEP 02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00016" y="2121408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Visual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5696712" y="2834640"/>
            <a:ext cx="914400" cy="914400"/>
          </a:xfrm>
          <a:prstGeom prst="ellipse">
            <a:avLst/>
          </a:prstGeom>
          <a:solidFill>
            <a:srgbClr val="1FA899"/>
          </a:solidFill>
          <a:ln/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035808"/>
            <a:ext cx="512064" cy="51206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654296" y="3886200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マンガ×ストーリーで訴求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4718304" y="457200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学校生活と進路を“読まれるビジュアル”に。感情に届く誌面で他校と差別化します。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211312" y="1783080"/>
            <a:ext cx="3456432" cy="388620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18"/>
          <p:cNvSpPr/>
          <p:nvPr/>
        </p:nvSpPr>
        <p:spPr>
          <a:xfrm>
            <a:off x="8211312" y="1783080"/>
            <a:ext cx="3456432" cy="777240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19"/>
          <p:cNvSpPr/>
          <p:nvPr/>
        </p:nvSpPr>
        <p:spPr>
          <a:xfrm>
            <a:off x="8485632" y="187452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STEP 03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485632" y="2121408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Extension</a:t>
            </a:r>
            <a:endParaRPr lang="en-US" sz="2200" dirty="0"/>
          </a:p>
        </p:txBody>
      </p:sp>
      <p:sp>
        <p:nvSpPr>
          <p:cNvPr id="25" name="Shape 21"/>
          <p:cNvSpPr/>
          <p:nvPr/>
        </p:nvSpPr>
        <p:spPr>
          <a:xfrm>
            <a:off x="9482328" y="2834640"/>
            <a:ext cx="914400" cy="914400"/>
          </a:xfrm>
          <a:prstGeom prst="ellipse">
            <a:avLst/>
          </a:prstGeom>
          <a:solidFill>
            <a:srgbClr val="3D5A99"/>
          </a:solidFill>
          <a:ln/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3496" y="3035808"/>
            <a:ext cx="512064" cy="51206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439912" y="3886200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Web・SNS動線の統合</a:t>
            </a:r>
            <a:endParaRPr lang="en-US" sz="1450" dirty="0"/>
          </a:p>
        </p:txBody>
      </p:sp>
      <p:sp>
        <p:nvSpPr>
          <p:cNvPr id="28" name="Text 23"/>
          <p:cNvSpPr/>
          <p:nvPr/>
        </p:nvSpPr>
        <p:spPr>
          <a:xfrm>
            <a:off x="8503920" y="457200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QRで申込ページ・LINE・SNSへ誘導。「見た→その場で申し込む」流れをつくります。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YNファクトリー ｜ 学校案内パンフレット制作プロデュース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100297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713232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96112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VALUE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96112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従来の紙パンフ制作と比べて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38328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従来の紙パンフ制作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897880" y="1783080"/>
            <a:ext cx="2514600" cy="530352"/>
          </a:xfrm>
          <a:prstGeom prst="roundRect">
            <a:avLst>
              <a:gd name="adj" fmla="val 1379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5897880" y="178308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YNファクトリー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7772400" cy="713232"/>
          </a:xfrm>
          <a:prstGeom prst="rect">
            <a:avLst/>
          </a:prstGeom>
          <a:solidFill>
            <a:srgbClr val="F6F9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制作費の目安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83280" y="246888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100万〜300万円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897880" y="24688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A89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15万円〜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18211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制作期間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83280" y="318211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3〜6カ月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97880" y="3182112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A89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約1カ月〜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895344"/>
            <a:ext cx="7772400" cy="713232"/>
          </a:xfrm>
          <a:prstGeom prst="rect">
            <a:avLst/>
          </a:prstGeom>
          <a:solidFill>
            <a:srgbClr val="F6F9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777240" y="3895344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内容の更新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83280" y="3895344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全面改訂が必要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897880" y="3895344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A89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データ修正で対応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608576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在庫リスク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83280" y="4608576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印刷部数の廃棄リスク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897880" y="4608576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A89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データ納品でリスクなし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321808"/>
            <a:ext cx="7772400" cy="713232"/>
          </a:xfrm>
          <a:prstGeom prst="rect">
            <a:avLst/>
          </a:prstGeom>
          <a:solidFill>
            <a:srgbClr val="F6F9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777240" y="532180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ビジュアル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83280" y="532180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写真中心が一般的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897880" y="5321808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A89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マンガ×ストーリーで差別化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49640" y="1828800"/>
            <a:ext cx="2971800" cy="3886200"/>
          </a:xfrm>
          <a:prstGeom prst="roundRect">
            <a:avLst>
              <a:gd name="adj" fmla="val 3692"/>
            </a:avLst>
          </a:prstGeom>
          <a:solidFill>
            <a:srgbClr val="1E2761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8549640" y="2331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EF3F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最大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49640" y="26974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1/10</a:t>
            </a:r>
            <a:endParaRPr lang="en-US" sz="6600" dirty="0"/>
          </a:p>
        </p:txBody>
      </p:sp>
      <p:sp>
        <p:nvSpPr>
          <p:cNvPr id="29" name="Text 27"/>
          <p:cNvSpPr/>
          <p:nvPr/>
        </p:nvSpPr>
        <p:spPr>
          <a:xfrm>
            <a:off x="8549640" y="3840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EF3F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以下のコスト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732520" y="45262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EEF3F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「読まれる・伝わる・動かす」</a:t>
            </a:r>
            <a:endParaRPr lang="en-US" sz="11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EEF3F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パンフレットを実現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YNファクトリー ｜ 学校案内パンフレット制作プロデュース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0297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713232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96112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PROCESS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96112" y="7498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制作の流れ（約1カ月〜）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542032" cy="30175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AA8C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130552" y="2286000"/>
            <a:ext cx="777240" cy="777240"/>
          </a:xfrm>
          <a:prstGeom prst="ellipse">
            <a:avLst/>
          </a:prstGeom>
          <a:solidFill>
            <a:srgbClr val="3D5A99"/>
          </a:solidFill>
          <a:ln/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1545" y="2456993"/>
            <a:ext cx="435254" cy="43525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324612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ヒアリング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3703320"/>
            <a:ext cx="20391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目的・強み・ターゲット・活用用途を確認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342900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93008" y="2103120"/>
            <a:ext cx="2542032" cy="30175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9"/>
          <p:cNvSpPr/>
          <p:nvPr/>
        </p:nvSpPr>
        <p:spPr>
          <a:xfrm>
            <a:off x="3721608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AA8C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Shape 10"/>
          <p:cNvSpPr/>
          <p:nvPr/>
        </p:nvSpPr>
        <p:spPr>
          <a:xfrm>
            <a:off x="4983480" y="2286000"/>
            <a:ext cx="777240" cy="777240"/>
          </a:xfrm>
          <a:prstGeom prst="ellipse">
            <a:avLst/>
          </a:prstGeom>
          <a:solidFill>
            <a:srgbClr val="F2A93B"/>
          </a:solidFill>
          <a:ln/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4473" y="2456993"/>
            <a:ext cx="435254" cy="43525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49040" y="324612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企画・提案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3767328" y="3703320"/>
            <a:ext cx="20391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訴求軸・誌面構成・スケジュールをご提案</a:t>
            </a:r>
            <a:endParaRPr lang="en-US" sz="11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3429000"/>
            <a:ext cx="274320" cy="274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345936" y="2103120"/>
            <a:ext cx="2542032" cy="30175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4"/>
          <p:cNvSpPr/>
          <p:nvPr/>
        </p:nvSpPr>
        <p:spPr>
          <a:xfrm>
            <a:off x="6574536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AA8C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Shape 15"/>
          <p:cNvSpPr/>
          <p:nvPr/>
        </p:nvSpPr>
        <p:spPr>
          <a:xfrm>
            <a:off x="7836408" y="2286000"/>
            <a:ext cx="777240" cy="777240"/>
          </a:xfrm>
          <a:prstGeom prst="ellipse">
            <a:avLst/>
          </a:prstGeom>
          <a:solidFill>
            <a:srgbClr val="1FA899"/>
          </a:solidFill>
          <a:ln/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7401" y="2456993"/>
            <a:ext cx="435254" cy="43525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01968" y="324612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制作・進行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6620256" y="3703320"/>
            <a:ext cx="20391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ライティング・デザイン・マンガを並行制作</a:t>
            </a:r>
            <a:endParaRPr lang="en-US" sz="11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6256" y="3429000"/>
            <a:ext cx="274320" cy="27432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198864" y="2103120"/>
            <a:ext cx="2542032" cy="30175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7" name="Text 19"/>
          <p:cNvSpPr/>
          <p:nvPr/>
        </p:nvSpPr>
        <p:spPr>
          <a:xfrm>
            <a:off x="9427464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AA8C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04</a:t>
            </a:r>
            <a:endParaRPr lang="en-US" sz="3000" dirty="0"/>
          </a:p>
        </p:txBody>
      </p:sp>
      <p:sp>
        <p:nvSpPr>
          <p:cNvPr id="28" name="Shape 20"/>
          <p:cNvSpPr/>
          <p:nvPr/>
        </p:nvSpPr>
        <p:spPr>
          <a:xfrm>
            <a:off x="10689336" y="2286000"/>
            <a:ext cx="777240" cy="777240"/>
          </a:xfrm>
          <a:prstGeom prst="ellipse">
            <a:avLst/>
          </a:prstGeom>
          <a:solidFill>
            <a:srgbClr val="1E2761"/>
          </a:solidFill>
          <a:ln/>
          <a:effectLst>
            <a:outerShdw blurRad="114300" dist="38100" dir="5400000" algn="bl" rotWithShape="0">
              <a:srgbClr val="1E2761">
                <a:alpha val="1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60329" y="2456993"/>
            <a:ext cx="435254" cy="43525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454896" y="324612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継続支援</a:t>
            </a:r>
            <a:endParaRPr lang="en-US" sz="1500" dirty="0"/>
          </a:p>
        </p:txBody>
      </p:sp>
      <p:sp>
        <p:nvSpPr>
          <p:cNvPr id="31" name="Text 22"/>
          <p:cNvSpPr/>
          <p:nvPr/>
        </p:nvSpPr>
        <p:spPr>
          <a:xfrm>
            <a:off x="9473184" y="3703320"/>
            <a:ext cx="20391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納品後も更新・追加・SNS活用を支援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640080" y="5440680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E2F4F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Text 24"/>
          <p:cNvSpPr/>
          <p:nvPr/>
        </p:nvSpPr>
        <p:spPr>
          <a:xfrm>
            <a:off x="640080" y="544068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761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制作過程では定期的に進捗をご報告。基本3回まで修正対応（プランにより5回）。安心して進められます。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26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YNファクトリー ｜ 学校案内パンフレット制作プロデュース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1100297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</TotalTime>
  <Words>518</Words>
  <Application>Microsoft Office PowerPoint</Application>
  <PresentationFormat>ワイド画面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3" baseType="lpstr">
      <vt:lpstr>Hiragino Kaku Gothic ProN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学校案内パンフレット制作プロデュース</dc:title>
  <dc:subject>PptxGenJS Presentation</dc:subject>
  <dc:creator>YNファクトリー</dc:creator>
  <cp:lastModifiedBy>雄一 中田</cp:lastModifiedBy>
  <cp:revision>2</cp:revision>
  <dcterms:created xsi:type="dcterms:W3CDTF">2026-06-01T01:48:34Z</dcterms:created>
  <dcterms:modified xsi:type="dcterms:W3CDTF">2026-06-01T14:39:59Z</dcterms:modified>
</cp:coreProperties>
</file>